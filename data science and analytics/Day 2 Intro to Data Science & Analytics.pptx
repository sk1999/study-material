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0082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349336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55519657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3652518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635893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312371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168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2541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85325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8313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8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5445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10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9431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30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861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5893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269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16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777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6091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167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30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67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1054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6358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6338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468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100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3441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86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9986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3005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8137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6414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3041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7523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47060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5420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705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2411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7381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293496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4991526" name="Shape 1"/>
          <p:cNvSpPr/>
          <p:nvPr/>
        </p:nvSpPr>
        <p:spPr bwMode="auto">
          <a:xfrm>
            <a:off x="6492239" y="274320"/>
            <a:ext cx="2560320" cy="256032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542141832" name="Shape 2"/>
          <p:cNvSpPr/>
          <p:nvPr/>
        </p:nvSpPr>
        <p:spPr bwMode="auto">
          <a:xfrm>
            <a:off x="7223760" y="2286000"/>
            <a:ext cx="1645920" cy="164592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97015142" name="Text 3"/>
          <p:cNvSpPr/>
          <p:nvPr/>
        </p:nvSpPr>
        <p:spPr bwMode="auto">
          <a:xfrm>
            <a:off x="457200" y="914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>
                <a:solidFill>
                  <a:srgbClr val="B0C4CE"/>
                </a:solidFill>
                <a:latin typeface="Calibri Light"/>
                <a:ea typeface="Calibri Light"/>
                <a:cs typeface="Calibri Light"/>
              </a:rPr>
              <a:t>Introduction to</a:t>
            </a:r>
            <a:endParaRPr lang="en-US" sz="2200"/>
          </a:p>
        </p:txBody>
      </p:sp>
      <p:sp>
        <p:nvSpPr>
          <p:cNvPr id="1019506973" name="Text 4"/>
          <p:cNvSpPr/>
          <p:nvPr/>
        </p:nvSpPr>
        <p:spPr bwMode="auto">
          <a:xfrm>
            <a:off x="457200" y="14173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Analytics &amp;</a:t>
            </a:r>
            <a:endParaRPr lang="en-US" sz="4600"/>
          </a:p>
          <a:p>
            <a:pPr marL="0" indent="0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Science</a:t>
            </a:r>
            <a:endParaRPr lang="en-US" sz="4600"/>
          </a:p>
        </p:txBody>
      </p:sp>
      <p:sp>
        <p:nvSpPr>
          <p:cNvPr id="1075607524" name="Text 5"/>
          <p:cNvSpPr/>
          <p:nvPr/>
        </p:nvSpPr>
        <p:spPr bwMode="auto">
          <a:xfrm>
            <a:off x="4572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i="1">
                <a:solidFill>
                  <a:srgbClr val="00A896"/>
                </a:solidFill>
                <a:latin typeface="Calibri Light"/>
                <a:ea typeface="Calibri Light"/>
                <a:cs typeface="Calibri Light"/>
              </a:rPr>
              <a:t>Understanding How Data Shapes Our World</a:t>
            </a:r>
            <a:endParaRPr lang="en-US" sz="1700"/>
          </a:p>
        </p:txBody>
      </p:sp>
      <p:sp>
        <p:nvSpPr>
          <p:cNvPr id="271367872" name="Shape 6"/>
          <p:cNvSpPr/>
          <p:nvPr/>
        </p:nvSpPr>
        <p:spPr bwMode="auto">
          <a:xfrm>
            <a:off x="457200" y="3977640"/>
            <a:ext cx="41148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8049344" name="Text 7"/>
          <p:cNvSpPr/>
          <p:nvPr/>
        </p:nvSpPr>
        <p:spPr bwMode="auto">
          <a:xfrm>
            <a:off x="4572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B0C4CE"/>
                </a:solidFill>
                <a:latin typeface="Calibri Light"/>
                <a:ea typeface="Calibri Light"/>
                <a:cs typeface="Calibri Light"/>
              </a:rPr>
              <a:t>Session Objective • Concepts • Real-World Applications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E8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165644" name="Shape 0"/>
          <p:cNvSpPr/>
          <p:nvPr/>
        </p:nvSpPr>
        <p:spPr bwMode="auto"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86770678" name="Text 1"/>
          <p:cNvSpPr/>
          <p:nvPr/>
        </p:nvSpPr>
        <p:spPr bwMode="auto"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SESSION OBJECTIVES</a:t>
            </a:r>
            <a:endParaRPr lang="en-US" sz="2800"/>
          </a:p>
        </p:txBody>
      </p:sp>
      <p:sp>
        <p:nvSpPr>
          <p:cNvPr id="1934455529" name="Shape 2"/>
          <p:cNvSpPr/>
          <p:nvPr/>
        </p:nvSpPr>
        <p:spPr bwMode="auto">
          <a:xfrm>
            <a:off x="365760" y="118872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322551931" name="Shape 3"/>
          <p:cNvSpPr/>
          <p:nvPr/>
        </p:nvSpPr>
        <p:spPr bwMode="auto">
          <a:xfrm>
            <a:off x="438912" y="1280160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82319192" name="Text 4"/>
          <p:cNvSpPr/>
          <p:nvPr/>
        </p:nvSpPr>
        <p:spPr bwMode="auto">
          <a:xfrm>
            <a:off x="43891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1194852920" name="Text 5"/>
          <p:cNvSpPr/>
          <p:nvPr/>
        </p:nvSpPr>
        <p:spPr bwMode="auto">
          <a:xfrm>
            <a:off x="960120" y="12618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What is Data Analytics?</a:t>
            </a:r>
            <a:endParaRPr lang="en-US" sz="1500"/>
          </a:p>
        </p:txBody>
      </p:sp>
      <p:sp>
        <p:nvSpPr>
          <p:cNvPr id="1646246325" name="Shape 6"/>
          <p:cNvSpPr/>
          <p:nvPr/>
        </p:nvSpPr>
        <p:spPr bwMode="auto">
          <a:xfrm>
            <a:off x="365760" y="193852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368391649" name="Shape 7"/>
          <p:cNvSpPr/>
          <p:nvPr/>
        </p:nvSpPr>
        <p:spPr bwMode="auto">
          <a:xfrm>
            <a:off x="438912" y="2029968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52169241" name="Text 8"/>
          <p:cNvSpPr/>
          <p:nvPr/>
        </p:nvSpPr>
        <p:spPr bwMode="auto">
          <a:xfrm>
            <a:off x="438912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1394832046" name="Text 9"/>
          <p:cNvSpPr/>
          <p:nvPr/>
        </p:nvSpPr>
        <p:spPr bwMode="auto">
          <a:xfrm>
            <a:off x="960120" y="2011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What is Data Science?</a:t>
            </a:r>
            <a:endParaRPr lang="en-US" sz="1500"/>
          </a:p>
        </p:txBody>
      </p:sp>
      <p:sp>
        <p:nvSpPr>
          <p:cNvPr id="1372999938" name="Shape 10"/>
          <p:cNvSpPr/>
          <p:nvPr/>
        </p:nvSpPr>
        <p:spPr bwMode="auto">
          <a:xfrm>
            <a:off x="365760" y="268833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815683145" name="Shape 11"/>
          <p:cNvSpPr/>
          <p:nvPr/>
        </p:nvSpPr>
        <p:spPr bwMode="auto">
          <a:xfrm>
            <a:off x="438912" y="2779776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92545484" name="Text 12"/>
          <p:cNvSpPr/>
          <p:nvPr/>
        </p:nvSpPr>
        <p:spPr bwMode="auto">
          <a:xfrm>
            <a:off x="438912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1082944682" name="Text 13"/>
          <p:cNvSpPr/>
          <p:nvPr/>
        </p:nvSpPr>
        <p:spPr bwMode="auto">
          <a:xfrm>
            <a:off x="960120" y="2761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Why do organizations use data?</a:t>
            </a:r>
            <a:endParaRPr lang="en-US" sz="1500"/>
          </a:p>
        </p:txBody>
      </p:sp>
      <p:sp>
        <p:nvSpPr>
          <p:cNvPr id="1282287067" name="Shape 14"/>
          <p:cNvSpPr/>
          <p:nvPr/>
        </p:nvSpPr>
        <p:spPr bwMode="auto">
          <a:xfrm>
            <a:off x="365760" y="3438144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385035168" name="Shape 15"/>
          <p:cNvSpPr/>
          <p:nvPr/>
        </p:nvSpPr>
        <p:spPr bwMode="auto">
          <a:xfrm>
            <a:off x="438912" y="3529584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5101732" name="Text 16"/>
          <p:cNvSpPr/>
          <p:nvPr/>
        </p:nvSpPr>
        <p:spPr bwMode="auto">
          <a:xfrm>
            <a:off x="438912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4</a:t>
            </a:r>
            <a:endParaRPr lang="en-US" sz="1400"/>
          </a:p>
        </p:txBody>
      </p:sp>
      <p:sp>
        <p:nvSpPr>
          <p:cNvPr id="621623718" name="Text 17"/>
          <p:cNvSpPr/>
          <p:nvPr/>
        </p:nvSpPr>
        <p:spPr bwMode="auto">
          <a:xfrm>
            <a:off x="960120" y="3511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How data impacts our daily lives?</a:t>
            </a:r>
            <a:endParaRPr lang="en-US" sz="1500"/>
          </a:p>
        </p:txBody>
      </p:sp>
      <p:sp>
        <p:nvSpPr>
          <p:cNvPr id="2018106732" name="Shape 18"/>
          <p:cNvSpPr/>
          <p:nvPr/>
        </p:nvSpPr>
        <p:spPr bwMode="auto">
          <a:xfrm>
            <a:off x="365760" y="4187952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2069374513" name="Shape 19"/>
          <p:cNvSpPr/>
          <p:nvPr/>
        </p:nvSpPr>
        <p:spPr bwMode="auto">
          <a:xfrm>
            <a:off x="438912" y="4279392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9697094" name="Text 20"/>
          <p:cNvSpPr/>
          <p:nvPr/>
        </p:nvSpPr>
        <p:spPr bwMode="auto">
          <a:xfrm>
            <a:off x="438912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5</a:t>
            </a:r>
            <a:endParaRPr lang="en-US" sz="1400"/>
          </a:p>
        </p:txBody>
      </p:sp>
      <p:sp>
        <p:nvSpPr>
          <p:cNvPr id="809213925" name="Text 21"/>
          <p:cNvSpPr/>
          <p:nvPr/>
        </p:nvSpPr>
        <p:spPr bwMode="auto">
          <a:xfrm>
            <a:off x="960120" y="426110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The difference between Analytics and Data Science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884914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226822454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IN OUR DAILY LIVES</a:t>
            </a:r>
            <a:endParaRPr lang="en-US" sz="2800"/>
          </a:p>
        </p:txBody>
      </p:sp>
      <p:sp>
        <p:nvSpPr>
          <p:cNvPr id="686448927" name="Text 2"/>
          <p:cNvSpPr/>
          <p:nvPr/>
        </p:nvSpPr>
        <p:spPr bwMode="auto">
          <a:xfrm>
            <a:off x="36576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0C4CE"/>
                </a:solidFill>
                <a:latin typeface="Calibri Light"/>
                <a:ea typeface="Calibri Light"/>
                <a:cs typeface="Calibri Light"/>
              </a:rPr>
              <a:t>Every activity we do generates data — here's how:</a:t>
            </a:r>
            <a:endParaRPr lang="en-US" sz="1400"/>
          </a:p>
        </p:txBody>
      </p:sp>
      <p:sp>
        <p:nvSpPr>
          <p:cNvPr id="1900127010" name="Shape 3"/>
          <p:cNvSpPr/>
          <p:nvPr/>
        </p:nvSpPr>
        <p:spPr bwMode="auto">
          <a:xfrm>
            <a:off x="365760" y="1645920"/>
            <a:ext cx="2560320" cy="109728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  <a:effectLst>
            <a:outerShdw blurRad="76200" dist="381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649767595" name="Text 4"/>
          <p:cNvSpPr/>
          <p:nvPr/>
        </p:nvSpPr>
        <p:spPr bwMode="auto">
          <a:xfrm>
            <a:off x="36576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</a:rPr>
              <a:t>📱</a:t>
            </a:r>
            <a:endParaRPr lang="en-US" sz="2600"/>
          </a:p>
        </p:txBody>
      </p:sp>
      <p:sp>
        <p:nvSpPr>
          <p:cNvPr id="336899923" name="Text 5"/>
          <p:cNvSpPr/>
          <p:nvPr/>
        </p:nvSpPr>
        <p:spPr bwMode="auto">
          <a:xfrm>
            <a:off x="36576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Mobile Phones</a:t>
            </a:r>
            <a:endParaRPr lang="en-US" sz="1300"/>
          </a:p>
        </p:txBody>
      </p:sp>
      <p:sp>
        <p:nvSpPr>
          <p:cNvPr id="653549221" name="Shape 6"/>
          <p:cNvSpPr/>
          <p:nvPr/>
        </p:nvSpPr>
        <p:spPr bwMode="auto">
          <a:xfrm>
            <a:off x="3200400" y="1645920"/>
            <a:ext cx="2560320" cy="109728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  <a:effectLst>
            <a:outerShdw blurRad="76200" dist="381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327839659" name="Text 7"/>
          <p:cNvSpPr/>
          <p:nvPr/>
        </p:nvSpPr>
        <p:spPr bwMode="auto">
          <a:xfrm>
            <a:off x="320040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</a:rPr>
              <a:t>🛒</a:t>
            </a:r>
            <a:endParaRPr lang="en-US" sz="2600"/>
          </a:p>
        </p:txBody>
      </p:sp>
      <p:sp>
        <p:nvSpPr>
          <p:cNvPr id="23783739" name="Text 8"/>
          <p:cNvSpPr/>
          <p:nvPr/>
        </p:nvSpPr>
        <p:spPr bwMode="auto">
          <a:xfrm>
            <a:off x="320040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Online Shopping</a:t>
            </a:r>
            <a:endParaRPr lang="en-US" sz="1300"/>
          </a:p>
        </p:txBody>
      </p:sp>
      <p:sp>
        <p:nvSpPr>
          <p:cNvPr id="243149236" name="Shape 9"/>
          <p:cNvSpPr/>
          <p:nvPr/>
        </p:nvSpPr>
        <p:spPr bwMode="auto">
          <a:xfrm>
            <a:off x="6035039" y="1645920"/>
            <a:ext cx="2560320" cy="109728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  <a:effectLst>
            <a:outerShdw blurRad="76200" dist="381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777598842" name="Text 10"/>
          <p:cNvSpPr/>
          <p:nvPr/>
        </p:nvSpPr>
        <p:spPr bwMode="auto">
          <a:xfrm>
            <a:off x="6035039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</a:rPr>
              <a:t>🏦</a:t>
            </a:r>
            <a:endParaRPr lang="en-US" sz="2600"/>
          </a:p>
        </p:txBody>
      </p:sp>
      <p:sp>
        <p:nvSpPr>
          <p:cNvPr id="1180686671" name="Text 11"/>
          <p:cNvSpPr/>
          <p:nvPr/>
        </p:nvSpPr>
        <p:spPr bwMode="auto">
          <a:xfrm>
            <a:off x="6035039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Banking</a:t>
            </a:r>
            <a:endParaRPr lang="en-US" sz="1300"/>
          </a:p>
        </p:txBody>
      </p:sp>
      <p:sp>
        <p:nvSpPr>
          <p:cNvPr id="884141974" name="Shape 12"/>
          <p:cNvSpPr/>
          <p:nvPr/>
        </p:nvSpPr>
        <p:spPr bwMode="auto">
          <a:xfrm>
            <a:off x="365760" y="3017519"/>
            <a:ext cx="2560320" cy="109728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  <a:effectLst>
            <a:outerShdw blurRad="76200" dist="381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234860911" name="Text 13"/>
          <p:cNvSpPr/>
          <p:nvPr/>
        </p:nvSpPr>
        <p:spPr bwMode="auto">
          <a:xfrm>
            <a:off x="365760" y="3063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</a:rPr>
              <a:t>🗺️</a:t>
            </a:r>
            <a:endParaRPr lang="en-US" sz="2600"/>
          </a:p>
        </p:txBody>
      </p:sp>
      <p:sp>
        <p:nvSpPr>
          <p:cNvPr id="1943819004" name="Text 14"/>
          <p:cNvSpPr/>
          <p:nvPr/>
        </p:nvSpPr>
        <p:spPr bwMode="auto">
          <a:xfrm>
            <a:off x="36576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GPS Navigation</a:t>
            </a:r>
            <a:endParaRPr lang="en-US" sz="1300"/>
          </a:p>
        </p:txBody>
      </p:sp>
      <p:sp>
        <p:nvSpPr>
          <p:cNvPr id="167125654" name="Shape 15"/>
          <p:cNvSpPr/>
          <p:nvPr/>
        </p:nvSpPr>
        <p:spPr bwMode="auto">
          <a:xfrm>
            <a:off x="3200400" y="3017519"/>
            <a:ext cx="2560320" cy="109728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  <a:effectLst>
            <a:outerShdw blurRad="76200" dist="381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974946128" name="Text 16"/>
          <p:cNvSpPr/>
          <p:nvPr/>
        </p:nvSpPr>
        <p:spPr bwMode="auto">
          <a:xfrm>
            <a:off x="3200400" y="3063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</a:rPr>
              <a:t>🍔</a:t>
            </a:r>
            <a:endParaRPr lang="en-US" sz="2600"/>
          </a:p>
        </p:txBody>
      </p:sp>
      <p:sp>
        <p:nvSpPr>
          <p:cNvPr id="777881102" name="Text 17"/>
          <p:cNvSpPr/>
          <p:nvPr/>
        </p:nvSpPr>
        <p:spPr bwMode="auto">
          <a:xfrm>
            <a:off x="320040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Food Delivery</a:t>
            </a:r>
            <a:endParaRPr lang="en-US" sz="1300"/>
          </a:p>
        </p:txBody>
      </p:sp>
      <p:sp>
        <p:nvSpPr>
          <p:cNvPr id="1017993555" name="Shape 18"/>
          <p:cNvSpPr/>
          <p:nvPr/>
        </p:nvSpPr>
        <p:spPr bwMode="auto">
          <a:xfrm>
            <a:off x="6035039" y="3017519"/>
            <a:ext cx="2560320" cy="109728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  <a:effectLst>
            <a:outerShdw blurRad="76200" dist="381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401565593" name="Text 19"/>
          <p:cNvSpPr/>
          <p:nvPr/>
        </p:nvSpPr>
        <p:spPr bwMode="auto">
          <a:xfrm>
            <a:off x="6035039" y="3063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</a:rPr>
              <a:t>🎬</a:t>
            </a:r>
            <a:endParaRPr lang="en-US" sz="2600"/>
          </a:p>
        </p:txBody>
      </p:sp>
      <p:sp>
        <p:nvSpPr>
          <p:cNvPr id="1167362639" name="Text 20"/>
          <p:cNvSpPr/>
          <p:nvPr/>
        </p:nvSpPr>
        <p:spPr bwMode="auto">
          <a:xfrm>
            <a:off x="6035039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Streaming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E8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436189" name="Shape 0"/>
          <p:cNvSpPr/>
          <p:nvPr/>
        </p:nvSpPr>
        <p:spPr bwMode="auto"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7500218" name="Text 1"/>
          <p:cNvSpPr/>
          <p:nvPr/>
        </p:nvSpPr>
        <p:spPr bwMode="auto"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→ INFORMATION → INSIGHT</a:t>
            </a:r>
            <a:endParaRPr lang="en-US" sz="2600"/>
          </a:p>
        </p:txBody>
      </p:sp>
      <p:sp>
        <p:nvSpPr>
          <p:cNvPr id="1056908505" name="Shape 2"/>
          <p:cNvSpPr/>
          <p:nvPr/>
        </p:nvSpPr>
        <p:spPr bwMode="auto">
          <a:xfrm>
            <a:off x="365760" y="118872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926318219" name="Shape 3"/>
          <p:cNvSpPr/>
          <p:nvPr/>
        </p:nvSpPr>
        <p:spPr bwMode="auto">
          <a:xfrm>
            <a:off x="365760" y="1188720"/>
            <a:ext cx="24688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11892343" name="Text 4"/>
          <p:cNvSpPr/>
          <p:nvPr/>
        </p:nvSpPr>
        <p:spPr bwMode="auto">
          <a:xfrm>
            <a:off x="36576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DATA</a:t>
            </a:r>
            <a:endParaRPr lang="en-US" sz="1400"/>
          </a:p>
        </p:txBody>
      </p:sp>
      <p:sp>
        <p:nvSpPr>
          <p:cNvPr id="1614602955" name="Text 5"/>
          <p:cNvSpPr/>
          <p:nvPr/>
        </p:nvSpPr>
        <p:spPr bwMode="auto">
          <a:xfrm>
            <a:off x="45720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</a:rPr>
              <a:t>Raw, unprocessed facts with limited value on their own</a:t>
            </a:r>
            <a:endParaRPr lang="en-US" sz="1200"/>
          </a:p>
        </p:txBody>
      </p:sp>
      <p:sp>
        <p:nvSpPr>
          <p:cNvPr id="373493830" name="Text 6"/>
          <p:cNvSpPr/>
          <p:nvPr/>
        </p:nvSpPr>
        <p:spPr bwMode="auto">
          <a:xfrm>
            <a:off x="548640" y="2514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Customer Name</a:t>
            </a:r>
            <a:b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</a:b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Age</a:t>
            </a:r>
            <a:b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</a:b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Salary</a:t>
            </a:r>
            <a:b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</a:b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Product Price</a:t>
            </a:r>
            <a:b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</a:b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Order Quantity</a:t>
            </a:r>
            <a:endParaRPr lang="en-US" sz="1200"/>
          </a:p>
        </p:txBody>
      </p:sp>
      <p:sp>
        <p:nvSpPr>
          <p:cNvPr id="684015539" name="Shape 7"/>
          <p:cNvSpPr/>
          <p:nvPr/>
        </p:nvSpPr>
        <p:spPr bwMode="auto">
          <a:xfrm>
            <a:off x="2944368" y="2606040"/>
            <a:ext cx="4572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36779358" name="Text 8"/>
          <p:cNvSpPr/>
          <p:nvPr/>
        </p:nvSpPr>
        <p:spPr bwMode="auto">
          <a:xfrm>
            <a:off x="288036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F0A500"/>
                </a:solidFill>
              </a:rPr>
              <a:t>→</a:t>
            </a:r>
            <a:endParaRPr lang="en-US" sz="2600"/>
          </a:p>
        </p:txBody>
      </p:sp>
      <p:sp>
        <p:nvSpPr>
          <p:cNvPr id="1703093755" name="Shape 9"/>
          <p:cNvSpPr/>
          <p:nvPr/>
        </p:nvSpPr>
        <p:spPr bwMode="auto">
          <a:xfrm>
            <a:off x="3520440" y="118872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863806092" name="Shape 10"/>
          <p:cNvSpPr/>
          <p:nvPr/>
        </p:nvSpPr>
        <p:spPr bwMode="auto">
          <a:xfrm>
            <a:off x="3520440" y="1188720"/>
            <a:ext cx="2468880" cy="4572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659786404" name="Text 11"/>
          <p:cNvSpPr/>
          <p:nvPr/>
        </p:nvSpPr>
        <p:spPr bwMode="auto">
          <a:xfrm>
            <a:off x="352044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INFORMATION</a:t>
            </a:r>
            <a:endParaRPr lang="en-US" sz="1300"/>
          </a:p>
        </p:txBody>
      </p:sp>
      <p:sp>
        <p:nvSpPr>
          <p:cNvPr id="2089407485" name="Text 12"/>
          <p:cNvSpPr/>
          <p:nvPr/>
        </p:nvSpPr>
        <p:spPr bwMode="auto">
          <a:xfrm>
            <a:off x="361188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</a:rPr>
              <a:t>Data organized and processed into meaningful context</a:t>
            </a:r>
            <a:endParaRPr lang="en-US" sz="1200"/>
          </a:p>
        </p:txBody>
      </p:sp>
      <p:sp>
        <p:nvSpPr>
          <p:cNvPr id="1246793308" name="Text 13"/>
          <p:cNvSpPr/>
          <p:nvPr/>
        </p:nvSpPr>
        <p:spPr bwMode="auto">
          <a:xfrm>
            <a:off x="3657600" y="25146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Product A sold 100 units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Product B sold 200 units</a:t>
            </a:r>
            <a:endParaRPr lang="en-US" sz="1200"/>
          </a:p>
          <a:p>
            <a:pPr marL="0" indent="0">
              <a:buNone/>
              <a:defRPr/>
            </a:pP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→ Product B sells twice as much as Product A</a:t>
            </a:r>
            <a:endParaRPr lang="en-US" sz="1200"/>
          </a:p>
        </p:txBody>
      </p:sp>
      <p:sp>
        <p:nvSpPr>
          <p:cNvPr id="1302643847" name="Text 14"/>
          <p:cNvSpPr/>
          <p:nvPr/>
        </p:nvSpPr>
        <p:spPr bwMode="auto">
          <a:xfrm>
            <a:off x="6035039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F0A500"/>
                </a:solidFill>
              </a:rPr>
              <a:t>→</a:t>
            </a:r>
            <a:endParaRPr lang="en-US" sz="2600"/>
          </a:p>
        </p:txBody>
      </p:sp>
      <p:sp>
        <p:nvSpPr>
          <p:cNvPr id="977563288" name="Shape 15"/>
          <p:cNvSpPr/>
          <p:nvPr/>
        </p:nvSpPr>
        <p:spPr bwMode="auto">
          <a:xfrm>
            <a:off x="6675120" y="1188720"/>
            <a:ext cx="2103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549849469" name="Shape 16"/>
          <p:cNvSpPr/>
          <p:nvPr/>
        </p:nvSpPr>
        <p:spPr bwMode="auto">
          <a:xfrm>
            <a:off x="6675120" y="1188720"/>
            <a:ext cx="2103120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81316248" name="Text 17"/>
          <p:cNvSpPr/>
          <p:nvPr/>
        </p:nvSpPr>
        <p:spPr bwMode="auto">
          <a:xfrm>
            <a:off x="6675120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D1B2A"/>
                </a:solidFill>
              </a:rPr>
              <a:t>INSIGHT</a:t>
            </a:r>
            <a:endParaRPr lang="en-US" sz="1400"/>
          </a:p>
        </p:txBody>
      </p:sp>
      <p:sp>
        <p:nvSpPr>
          <p:cNvPr id="1000555468" name="Text 18"/>
          <p:cNvSpPr/>
          <p:nvPr/>
        </p:nvSpPr>
        <p:spPr bwMode="auto">
          <a:xfrm>
            <a:off x="6720840" y="1737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Actionable understanding that drives decisions</a:t>
            </a:r>
            <a:endParaRPr lang="en-US" sz="1100"/>
          </a:p>
        </p:txBody>
      </p:sp>
      <p:sp>
        <p:nvSpPr>
          <p:cNvPr id="2061667981" name="Text 19"/>
          <p:cNvSpPr/>
          <p:nvPr/>
        </p:nvSpPr>
        <p:spPr bwMode="auto">
          <a:xfrm>
            <a:off x="6720840" y="25146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Sales drop on weekends → Launch weekend promotions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E8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327013" name="Shape 0"/>
          <p:cNvSpPr/>
          <p:nvPr/>
        </p:nvSpPr>
        <p:spPr bwMode="auto">
          <a:xfrm>
            <a:off x="0" y="0"/>
            <a:ext cx="914400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56173864" name="Text 1"/>
          <p:cNvSpPr/>
          <p:nvPr/>
        </p:nvSpPr>
        <p:spPr bwMode="auto"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IS DATA ANALYTICS?</a:t>
            </a:r>
            <a:endParaRPr lang="en-US" sz="2800"/>
          </a:p>
        </p:txBody>
      </p:sp>
      <p:sp>
        <p:nvSpPr>
          <p:cNvPr id="1696343544" name="Text 2"/>
          <p:cNvSpPr/>
          <p:nvPr/>
        </p:nvSpPr>
        <p:spPr bwMode="auto"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i="1">
                <a:solidFill>
                  <a:srgbClr val="0D1B2A"/>
                </a:solidFill>
                <a:latin typeface="Calibri Light"/>
                <a:ea typeface="Calibri Light"/>
                <a:cs typeface="Calibri Light"/>
              </a:rPr>
              <a:t>The process of examining data to discover useful information, patterns, and insights.</a:t>
            </a:r>
            <a:endParaRPr lang="en-US" sz="1500"/>
          </a:p>
        </p:txBody>
      </p:sp>
      <p:sp>
        <p:nvSpPr>
          <p:cNvPr id="97793132" name="Shape 3"/>
          <p:cNvSpPr/>
          <p:nvPr/>
        </p:nvSpPr>
        <p:spPr bwMode="auto">
          <a:xfrm>
            <a:off x="274320" y="1691640"/>
            <a:ext cx="2743200" cy="777240"/>
          </a:xfrm>
          <a:prstGeom prst="rect">
            <a:avLst/>
          </a:prstGeom>
          <a:solidFill>
            <a:srgbClr val="1B5E7B"/>
          </a:solidFill>
          <a:ln w="12700">
            <a:solidFill>
              <a:srgbClr val="1B5E7B"/>
            </a:solidFill>
            <a:prstDash val="solid"/>
          </a:ln>
        </p:spPr>
      </p:sp>
      <p:sp>
        <p:nvSpPr>
          <p:cNvPr id="1697119248" name="Text 4"/>
          <p:cNvSpPr/>
          <p:nvPr/>
        </p:nvSpPr>
        <p:spPr bwMode="auto">
          <a:xfrm>
            <a:off x="27432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What happened?</a:t>
            </a:r>
            <a:endParaRPr lang="en-US" sz="1400"/>
          </a:p>
        </p:txBody>
      </p:sp>
      <p:sp>
        <p:nvSpPr>
          <p:cNvPr id="1308684495" name="Shape 5"/>
          <p:cNvSpPr/>
          <p:nvPr/>
        </p:nvSpPr>
        <p:spPr bwMode="auto">
          <a:xfrm>
            <a:off x="3200400" y="1691640"/>
            <a:ext cx="2743200" cy="777240"/>
          </a:xfrm>
          <a:prstGeom prst="rect">
            <a:avLst/>
          </a:prstGeom>
          <a:solidFill>
            <a:srgbClr val="007A68"/>
          </a:solidFill>
          <a:ln w="12700">
            <a:solidFill>
              <a:srgbClr val="007A68"/>
            </a:solidFill>
            <a:prstDash val="solid"/>
          </a:ln>
        </p:spPr>
      </p:sp>
      <p:sp>
        <p:nvSpPr>
          <p:cNvPr id="248887948" name="Text 6"/>
          <p:cNvSpPr/>
          <p:nvPr/>
        </p:nvSpPr>
        <p:spPr bwMode="auto">
          <a:xfrm>
            <a:off x="320040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Why did it happen?</a:t>
            </a:r>
            <a:endParaRPr lang="en-US" sz="1400"/>
          </a:p>
        </p:txBody>
      </p:sp>
      <p:sp>
        <p:nvSpPr>
          <p:cNvPr id="402116825" name="Shape 7"/>
          <p:cNvSpPr/>
          <p:nvPr/>
        </p:nvSpPr>
        <p:spPr bwMode="auto">
          <a:xfrm>
            <a:off x="6126480" y="1691640"/>
            <a:ext cx="2743200" cy="777240"/>
          </a:xfrm>
          <a:prstGeom prst="rect">
            <a:avLst/>
          </a:prstGeom>
          <a:solidFill>
            <a:srgbClr val="B8540A"/>
          </a:solidFill>
          <a:ln w="12700">
            <a:solidFill>
              <a:srgbClr val="B8540A"/>
            </a:solidFill>
            <a:prstDash val="solid"/>
          </a:ln>
        </p:spPr>
      </p:sp>
      <p:sp>
        <p:nvSpPr>
          <p:cNvPr id="1359366535" name="Text 8"/>
          <p:cNvSpPr/>
          <p:nvPr/>
        </p:nvSpPr>
        <p:spPr bwMode="auto">
          <a:xfrm>
            <a:off x="612648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What is happening now?</a:t>
            </a:r>
            <a:endParaRPr lang="en-US" sz="1400"/>
          </a:p>
        </p:txBody>
      </p:sp>
      <p:sp>
        <p:nvSpPr>
          <p:cNvPr id="386103223" name="Text 9"/>
          <p:cNvSpPr/>
          <p:nvPr/>
        </p:nvSpPr>
        <p:spPr bwMode="auto">
          <a:xfrm>
            <a:off x="36576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Examples</a:t>
            </a:r>
            <a:endParaRPr lang="en-US" sz="1500"/>
          </a:p>
        </p:txBody>
      </p:sp>
      <p:sp>
        <p:nvSpPr>
          <p:cNvPr id="1416170349" name="Shape 10"/>
          <p:cNvSpPr/>
          <p:nvPr/>
        </p:nvSpPr>
        <p:spPr bwMode="auto">
          <a:xfrm>
            <a:off x="274320" y="306324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291490273" name="Shape 11"/>
          <p:cNvSpPr/>
          <p:nvPr/>
        </p:nvSpPr>
        <p:spPr bwMode="auto">
          <a:xfrm>
            <a:off x="274320" y="3063240"/>
            <a:ext cx="20116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51812216" name="Text 12"/>
          <p:cNvSpPr/>
          <p:nvPr/>
        </p:nvSpPr>
        <p:spPr bwMode="auto">
          <a:xfrm>
            <a:off x="274320" y="3154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0D1B2A"/>
                </a:solidFill>
              </a:rPr>
              <a:t>📊 Sales Reports</a:t>
            </a:r>
            <a:endParaRPr lang="en-US" sz="1300"/>
          </a:p>
        </p:txBody>
      </p:sp>
      <p:sp>
        <p:nvSpPr>
          <p:cNvPr id="431323927" name="Shape 13"/>
          <p:cNvSpPr/>
          <p:nvPr/>
        </p:nvSpPr>
        <p:spPr bwMode="auto">
          <a:xfrm>
            <a:off x="2468880" y="306324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790889680" name="Shape 14"/>
          <p:cNvSpPr/>
          <p:nvPr/>
        </p:nvSpPr>
        <p:spPr bwMode="auto">
          <a:xfrm>
            <a:off x="2468880" y="3063240"/>
            <a:ext cx="20116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73151759" name="Text 15"/>
          <p:cNvSpPr/>
          <p:nvPr/>
        </p:nvSpPr>
        <p:spPr bwMode="auto">
          <a:xfrm>
            <a:off x="2468880" y="3154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0D1B2A"/>
                </a:solidFill>
              </a:rPr>
              <a:t>💰 Revenue Analysis</a:t>
            </a:r>
            <a:endParaRPr lang="en-US" sz="1300"/>
          </a:p>
        </p:txBody>
      </p:sp>
      <p:sp>
        <p:nvSpPr>
          <p:cNvPr id="78064314" name="Shape 16"/>
          <p:cNvSpPr/>
          <p:nvPr/>
        </p:nvSpPr>
        <p:spPr bwMode="auto">
          <a:xfrm>
            <a:off x="4663440" y="306324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79986003" name="Shape 17"/>
          <p:cNvSpPr/>
          <p:nvPr/>
        </p:nvSpPr>
        <p:spPr bwMode="auto">
          <a:xfrm>
            <a:off x="4663440" y="3063240"/>
            <a:ext cx="20116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80575846" name="Text 18"/>
          <p:cNvSpPr/>
          <p:nvPr/>
        </p:nvSpPr>
        <p:spPr bwMode="auto">
          <a:xfrm>
            <a:off x="4663440" y="3154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0D1B2A"/>
                </a:solidFill>
              </a:rPr>
              <a:t>👥 Customer Analysis</a:t>
            </a:r>
            <a:endParaRPr lang="en-US" sz="1300"/>
          </a:p>
        </p:txBody>
      </p:sp>
      <p:sp>
        <p:nvSpPr>
          <p:cNvPr id="272874130" name="Shape 19"/>
          <p:cNvSpPr/>
          <p:nvPr/>
        </p:nvSpPr>
        <p:spPr bwMode="auto">
          <a:xfrm>
            <a:off x="6858000" y="306324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2105462097" name="Shape 20"/>
          <p:cNvSpPr/>
          <p:nvPr/>
        </p:nvSpPr>
        <p:spPr bwMode="auto">
          <a:xfrm>
            <a:off x="6858000" y="3063240"/>
            <a:ext cx="20116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6658504" name="Text 21"/>
          <p:cNvSpPr/>
          <p:nvPr/>
        </p:nvSpPr>
        <p:spPr bwMode="auto">
          <a:xfrm>
            <a:off x="6858000" y="3154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0D1B2A"/>
                </a:solidFill>
              </a:rPr>
              <a:t>📈 Operational Dashboards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739831" name="Shape 0"/>
          <p:cNvSpPr/>
          <p:nvPr/>
        </p:nvSpPr>
        <p:spPr bwMode="auto">
          <a:xfrm>
            <a:off x="0" y="0"/>
            <a:ext cx="9144000" cy="96012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396983649" name="Text 1"/>
          <p:cNvSpPr/>
          <p:nvPr/>
        </p:nvSpPr>
        <p:spPr bwMode="auto"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IS DATA SCIENCE?</a:t>
            </a:r>
            <a:endParaRPr lang="en-US" sz="2800"/>
          </a:p>
        </p:txBody>
      </p:sp>
      <p:sp>
        <p:nvSpPr>
          <p:cNvPr id="540253229" name="Text 2"/>
          <p:cNvSpPr/>
          <p:nvPr/>
        </p:nvSpPr>
        <p:spPr bwMode="auto">
          <a:xfrm>
            <a:off x="36576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i="1">
                <a:solidFill>
                  <a:srgbClr val="B0C4CE"/>
                </a:solidFill>
              </a:rPr>
              <a:t>Combines multiple disciplines to predict future outcomes and drive smarter decisions.</a:t>
            </a:r>
            <a:endParaRPr lang="en-US" sz="1500"/>
          </a:p>
        </p:txBody>
      </p:sp>
      <p:sp>
        <p:nvSpPr>
          <p:cNvPr id="329187009" name="Shape 3"/>
          <p:cNvSpPr/>
          <p:nvPr/>
        </p:nvSpPr>
        <p:spPr bwMode="auto">
          <a:xfrm>
            <a:off x="365760" y="1691640"/>
            <a:ext cx="1463040" cy="11887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94606058" name="Text 4"/>
          <p:cNvSpPr/>
          <p:nvPr/>
        </p:nvSpPr>
        <p:spPr bwMode="auto">
          <a:xfrm>
            <a:off x="365760" y="1737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000000"/>
                </a:solidFill>
              </a:rPr>
              <a:t>📐</a:t>
            </a:r>
            <a:endParaRPr lang="en-US" sz="2200"/>
          </a:p>
        </p:txBody>
      </p:sp>
      <p:sp>
        <p:nvSpPr>
          <p:cNvPr id="870690516" name="Text 5"/>
          <p:cNvSpPr/>
          <p:nvPr/>
        </p:nvSpPr>
        <p:spPr bwMode="auto">
          <a:xfrm>
            <a:off x="36576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Statistics</a:t>
            </a:r>
            <a:endParaRPr lang="en-US" sz="1100"/>
          </a:p>
        </p:txBody>
      </p:sp>
      <p:sp>
        <p:nvSpPr>
          <p:cNvPr id="920111335" name="Shape 6"/>
          <p:cNvSpPr/>
          <p:nvPr/>
        </p:nvSpPr>
        <p:spPr bwMode="auto">
          <a:xfrm>
            <a:off x="2057400" y="1691640"/>
            <a:ext cx="1463040" cy="11887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60153008" name="Text 7"/>
          <p:cNvSpPr/>
          <p:nvPr/>
        </p:nvSpPr>
        <p:spPr bwMode="auto">
          <a:xfrm>
            <a:off x="2057400" y="1737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000000"/>
                </a:solidFill>
              </a:rPr>
              <a:t>➕</a:t>
            </a:r>
            <a:endParaRPr lang="en-US" sz="2200"/>
          </a:p>
        </p:txBody>
      </p:sp>
      <p:sp>
        <p:nvSpPr>
          <p:cNvPr id="583499735" name="Text 8"/>
          <p:cNvSpPr/>
          <p:nvPr/>
        </p:nvSpPr>
        <p:spPr bwMode="auto">
          <a:xfrm>
            <a:off x="205740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Mathematics</a:t>
            </a:r>
            <a:endParaRPr lang="en-US" sz="1100"/>
          </a:p>
        </p:txBody>
      </p:sp>
      <p:sp>
        <p:nvSpPr>
          <p:cNvPr id="425161386" name="Shape 9"/>
          <p:cNvSpPr/>
          <p:nvPr/>
        </p:nvSpPr>
        <p:spPr bwMode="auto">
          <a:xfrm>
            <a:off x="3749040" y="1691640"/>
            <a:ext cx="1463040" cy="11887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87157430" name="Text 10"/>
          <p:cNvSpPr/>
          <p:nvPr/>
        </p:nvSpPr>
        <p:spPr bwMode="auto">
          <a:xfrm>
            <a:off x="3749040" y="1737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000000"/>
                </a:solidFill>
              </a:rPr>
              <a:t>💻</a:t>
            </a:r>
            <a:endParaRPr lang="en-US" sz="2200"/>
          </a:p>
        </p:txBody>
      </p:sp>
      <p:sp>
        <p:nvSpPr>
          <p:cNvPr id="1046927402" name="Text 11"/>
          <p:cNvSpPr/>
          <p:nvPr/>
        </p:nvSpPr>
        <p:spPr bwMode="auto">
          <a:xfrm>
            <a:off x="374904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Programming</a:t>
            </a:r>
            <a:endParaRPr lang="en-US" sz="1100"/>
          </a:p>
        </p:txBody>
      </p:sp>
      <p:sp>
        <p:nvSpPr>
          <p:cNvPr id="723629704" name="Shape 12"/>
          <p:cNvSpPr/>
          <p:nvPr/>
        </p:nvSpPr>
        <p:spPr bwMode="auto">
          <a:xfrm>
            <a:off x="5440680" y="1691640"/>
            <a:ext cx="1463040" cy="11887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97560292" name="Text 13"/>
          <p:cNvSpPr/>
          <p:nvPr/>
        </p:nvSpPr>
        <p:spPr bwMode="auto">
          <a:xfrm>
            <a:off x="5440680" y="1737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000000"/>
                </a:solidFill>
              </a:rPr>
              <a:t>🤖</a:t>
            </a:r>
            <a:endParaRPr lang="en-US" sz="2200"/>
          </a:p>
        </p:txBody>
      </p:sp>
      <p:sp>
        <p:nvSpPr>
          <p:cNvPr id="948019749" name="Text 14"/>
          <p:cNvSpPr/>
          <p:nvPr/>
        </p:nvSpPr>
        <p:spPr bwMode="auto">
          <a:xfrm>
            <a:off x="544068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Machine Learning</a:t>
            </a:r>
            <a:endParaRPr lang="en-US" sz="1100"/>
          </a:p>
        </p:txBody>
      </p:sp>
      <p:sp>
        <p:nvSpPr>
          <p:cNvPr id="242279998" name="Shape 15"/>
          <p:cNvSpPr/>
          <p:nvPr/>
        </p:nvSpPr>
        <p:spPr bwMode="auto">
          <a:xfrm>
            <a:off x="7132320" y="1691640"/>
            <a:ext cx="1463040" cy="11887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02653758" name="Text 16"/>
          <p:cNvSpPr/>
          <p:nvPr/>
        </p:nvSpPr>
        <p:spPr bwMode="auto">
          <a:xfrm>
            <a:off x="7132320" y="1737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000000"/>
                </a:solidFill>
              </a:rPr>
              <a:t>📋</a:t>
            </a:r>
            <a:endParaRPr lang="en-US" sz="2200"/>
          </a:p>
        </p:txBody>
      </p:sp>
      <p:sp>
        <p:nvSpPr>
          <p:cNvPr id="646386147" name="Text 17"/>
          <p:cNvSpPr/>
          <p:nvPr/>
        </p:nvSpPr>
        <p:spPr bwMode="auto">
          <a:xfrm>
            <a:off x="713232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Business Knowledge</a:t>
            </a:r>
            <a:endParaRPr lang="en-US" sz="1100"/>
          </a:p>
        </p:txBody>
      </p:sp>
      <p:sp>
        <p:nvSpPr>
          <p:cNvPr id="31050564" name="Text 18"/>
          <p:cNvSpPr/>
          <p:nvPr/>
        </p:nvSpPr>
        <p:spPr bwMode="auto">
          <a:xfrm>
            <a:off x="36576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A896"/>
                </a:solidFill>
              </a:rPr>
              <a:t>It answers:</a:t>
            </a:r>
            <a:endParaRPr lang="en-US" sz="1400"/>
          </a:p>
        </p:txBody>
      </p:sp>
      <p:sp>
        <p:nvSpPr>
          <p:cNvPr id="1675422057" name="Shape 19"/>
          <p:cNvSpPr/>
          <p:nvPr/>
        </p:nvSpPr>
        <p:spPr bwMode="auto">
          <a:xfrm>
            <a:off x="365760" y="3429000"/>
            <a:ext cx="54864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76534868" name="Text 20"/>
          <p:cNvSpPr/>
          <p:nvPr/>
        </p:nvSpPr>
        <p:spPr bwMode="auto">
          <a:xfrm>
            <a:off x="54864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</a:rPr>
              <a:t>What will happen next?</a:t>
            </a:r>
            <a:endParaRPr lang="en-US" sz="1400"/>
          </a:p>
        </p:txBody>
      </p:sp>
      <p:sp>
        <p:nvSpPr>
          <p:cNvPr id="1979209460" name="Shape 21"/>
          <p:cNvSpPr/>
          <p:nvPr/>
        </p:nvSpPr>
        <p:spPr bwMode="auto">
          <a:xfrm>
            <a:off x="365760" y="3886200"/>
            <a:ext cx="54864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65674092" name="Text 22"/>
          <p:cNvSpPr/>
          <p:nvPr/>
        </p:nvSpPr>
        <p:spPr bwMode="auto">
          <a:xfrm>
            <a:off x="54864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</a:rPr>
              <a:t>What should we do?</a:t>
            </a:r>
            <a:endParaRPr lang="en-US" sz="1400"/>
          </a:p>
        </p:txBody>
      </p:sp>
      <p:sp>
        <p:nvSpPr>
          <p:cNvPr id="2095472228" name="Shape 23"/>
          <p:cNvSpPr/>
          <p:nvPr/>
        </p:nvSpPr>
        <p:spPr bwMode="auto">
          <a:xfrm>
            <a:off x="365760" y="4343400"/>
            <a:ext cx="54864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30997501" name="Text 24"/>
          <p:cNvSpPr/>
          <p:nvPr/>
        </p:nvSpPr>
        <p:spPr bwMode="auto">
          <a:xfrm>
            <a:off x="54864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</a:rPr>
              <a:t>How can we improve outcomes?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E8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284236" name="Shape 0"/>
          <p:cNvSpPr/>
          <p:nvPr/>
        </p:nvSpPr>
        <p:spPr bwMode="auto"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86629334" name="Text 1"/>
          <p:cNvSpPr/>
          <p:nvPr/>
        </p:nvSpPr>
        <p:spPr bwMode="auto"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ANALYTICS vs DATA SCIENCE</a:t>
            </a:r>
            <a:endParaRPr lang="en-US" sz="2800"/>
          </a:p>
        </p:txBody>
      </p:sp>
      <p:sp>
        <p:nvSpPr>
          <p:cNvPr id="2008299335" name="Shape 2"/>
          <p:cNvSpPr/>
          <p:nvPr/>
        </p:nvSpPr>
        <p:spPr bwMode="auto">
          <a:xfrm>
            <a:off x="3017519" y="1051560"/>
            <a:ext cx="27432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21807537" name="Text 3"/>
          <p:cNvSpPr/>
          <p:nvPr/>
        </p:nvSpPr>
        <p:spPr bwMode="auto">
          <a:xfrm>
            <a:off x="3017519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Data Analytics</a:t>
            </a:r>
            <a:endParaRPr lang="en-US" sz="1400"/>
          </a:p>
        </p:txBody>
      </p:sp>
      <p:sp>
        <p:nvSpPr>
          <p:cNvPr id="1060201737" name="Shape 4"/>
          <p:cNvSpPr/>
          <p:nvPr/>
        </p:nvSpPr>
        <p:spPr bwMode="auto">
          <a:xfrm>
            <a:off x="5943600" y="1051560"/>
            <a:ext cx="2834640" cy="4572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721514262" name="Text 5"/>
          <p:cNvSpPr/>
          <p:nvPr/>
        </p:nvSpPr>
        <p:spPr bwMode="auto">
          <a:xfrm>
            <a:off x="5943600" y="1051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Data Science</a:t>
            </a:r>
            <a:endParaRPr lang="en-US" sz="1400"/>
          </a:p>
        </p:txBody>
      </p:sp>
      <p:sp>
        <p:nvSpPr>
          <p:cNvPr id="328697987" name="Shape 6"/>
          <p:cNvSpPr/>
          <p:nvPr/>
        </p:nvSpPr>
        <p:spPr bwMode="auto">
          <a:xfrm>
            <a:off x="182880" y="1600200"/>
            <a:ext cx="8778240" cy="594360"/>
          </a:xfrm>
          <a:prstGeom prst="rect">
            <a:avLst/>
          </a:prstGeom>
          <a:solidFill>
            <a:srgbClr val="EFF7FB"/>
          </a:solidFill>
          <a:ln w="6350">
            <a:solidFill>
              <a:srgbClr val="D0E4EC"/>
            </a:solidFill>
            <a:prstDash val="solid"/>
          </a:ln>
        </p:spPr>
      </p:sp>
      <p:sp>
        <p:nvSpPr>
          <p:cNvPr id="1532763646" name="Text 7"/>
          <p:cNvSpPr/>
          <p:nvPr/>
        </p:nvSpPr>
        <p:spPr bwMode="auto">
          <a:xfrm>
            <a:off x="32004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</a:rPr>
              <a:t>Focus</a:t>
            </a:r>
            <a:endParaRPr lang="en-US" sz="1300"/>
          </a:p>
        </p:txBody>
      </p:sp>
      <p:sp>
        <p:nvSpPr>
          <p:cNvPr id="1489984738" name="Shape 8"/>
          <p:cNvSpPr/>
          <p:nvPr/>
        </p:nvSpPr>
        <p:spPr bwMode="auto">
          <a:xfrm>
            <a:off x="3017519" y="1673352"/>
            <a:ext cx="2743200" cy="438912"/>
          </a:xfrm>
          <a:prstGeom prst="rect">
            <a:avLst/>
          </a:prstGeom>
          <a:solidFill>
            <a:srgbClr val="D0F5ED"/>
          </a:solidFill>
          <a:ln w="12700">
            <a:solidFill>
              <a:srgbClr val="D0F5ED"/>
            </a:solidFill>
            <a:prstDash val="solid"/>
          </a:ln>
        </p:spPr>
      </p:sp>
      <p:sp>
        <p:nvSpPr>
          <p:cNvPr id="1047289105" name="Text 9"/>
          <p:cNvSpPr/>
          <p:nvPr/>
        </p:nvSpPr>
        <p:spPr bwMode="auto">
          <a:xfrm>
            <a:off x="3017519" y="1600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7A68"/>
                </a:solidFill>
              </a:rPr>
              <a:t>Past &amp; Present</a:t>
            </a:r>
            <a:endParaRPr lang="en-US" sz="1200"/>
          </a:p>
        </p:txBody>
      </p:sp>
      <p:sp>
        <p:nvSpPr>
          <p:cNvPr id="437922174" name="Shape 10"/>
          <p:cNvSpPr/>
          <p:nvPr/>
        </p:nvSpPr>
        <p:spPr bwMode="auto">
          <a:xfrm>
            <a:off x="5943600" y="1673352"/>
            <a:ext cx="2834640" cy="43891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462529077" name="Text 11"/>
          <p:cNvSpPr/>
          <p:nvPr/>
        </p:nvSpPr>
        <p:spPr bwMode="auto">
          <a:xfrm>
            <a:off x="5943600" y="1600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3A4B"/>
                </a:solidFill>
              </a:rPr>
              <a:t>Future</a:t>
            </a:r>
            <a:endParaRPr lang="en-US" sz="1200"/>
          </a:p>
        </p:txBody>
      </p:sp>
      <p:sp>
        <p:nvSpPr>
          <p:cNvPr id="1654180433" name="Shape 12"/>
          <p:cNvSpPr/>
          <p:nvPr/>
        </p:nvSpPr>
        <p:spPr bwMode="auto">
          <a:xfrm>
            <a:off x="182880" y="2258568"/>
            <a:ext cx="8778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C"/>
            </a:solidFill>
            <a:prstDash val="solid"/>
          </a:ln>
        </p:spPr>
      </p:sp>
      <p:sp>
        <p:nvSpPr>
          <p:cNvPr id="1531944130" name="Text 13"/>
          <p:cNvSpPr/>
          <p:nvPr/>
        </p:nvSpPr>
        <p:spPr bwMode="auto">
          <a:xfrm>
            <a:off x="320040" y="22585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</a:rPr>
              <a:t>Approach</a:t>
            </a:r>
            <a:endParaRPr lang="en-US" sz="1300"/>
          </a:p>
        </p:txBody>
      </p:sp>
      <p:sp>
        <p:nvSpPr>
          <p:cNvPr id="1794780133" name="Shape 14"/>
          <p:cNvSpPr/>
          <p:nvPr/>
        </p:nvSpPr>
        <p:spPr bwMode="auto">
          <a:xfrm>
            <a:off x="3017519" y="2331720"/>
            <a:ext cx="2743200" cy="438912"/>
          </a:xfrm>
          <a:prstGeom prst="rect">
            <a:avLst/>
          </a:prstGeom>
          <a:solidFill>
            <a:srgbClr val="D0F5ED"/>
          </a:solidFill>
          <a:ln w="12700">
            <a:solidFill>
              <a:srgbClr val="D0F5ED"/>
            </a:solidFill>
            <a:prstDash val="solid"/>
          </a:ln>
        </p:spPr>
      </p:sp>
      <p:sp>
        <p:nvSpPr>
          <p:cNvPr id="488571748" name="Text 15"/>
          <p:cNvSpPr/>
          <p:nvPr/>
        </p:nvSpPr>
        <p:spPr bwMode="auto">
          <a:xfrm>
            <a:off x="3017519" y="22585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7A68"/>
                </a:solidFill>
              </a:rPr>
              <a:t>Descriptive &amp; Diagnostic</a:t>
            </a:r>
            <a:endParaRPr lang="en-US" sz="1200"/>
          </a:p>
        </p:txBody>
      </p:sp>
      <p:sp>
        <p:nvSpPr>
          <p:cNvPr id="1446537240" name="Shape 16"/>
          <p:cNvSpPr/>
          <p:nvPr/>
        </p:nvSpPr>
        <p:spPr bwMode="auto">
          <a:xfrm>
            <a:off x="5943600" y="2331720"/>
            <a:ext cx="2834640" cy="43891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034691831" name="Text 17"/>
          <p:cNvSpPr/>
          <p:nvPr/>
        </p:nvSpPr>
        <p:spPr bwMode="auto">
          <a:xfrm>
            <a:off x="5943600" y="22585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3A4B"/>
                </a:solidFill>
              </a:rPr>
              <a:t>Predictive &amp; Prescriptive</a:t>
            </a:r>
            <a:endParaRPr lang="en-US" sz="1200"/>
          </a:p>
        </p:txBody>
      </p:sp>
      <p:sp>
        <p:nvSpPr>
          <p:cNvPr id="599984778" name="Shape 18"/>
          <p:cNvSpPr/>
          <p:nvPr/>
        </p:nvSpPr>
        <p:spPr bwMode="auto">
          <a:xfrm>
            <a:off x="182880" y="2916936"/>
            <a:ext cx="8778240" cy="594360"/>
          </a:xfrm>
          <a:prstGeom prst="rect">
            <a:avLst/>
          </a:prstGeom>
          <a:solidFill>
            <a:srgbClr val="EFF7FB"/>
          </a:solidFill>
          <a:ln w="6350">
            <a:solidFill>
              <a:srgbClr val="D0E4EC"/>
            </a:solidFill>
            <a:prstDash val="solid"/>
          </a:ln>
        </p:spPr>
      </p:sp>
      <p:sp>
        <p:nvSpPr>
          <p:cNvPr id="16545490" name="Text 19"/>
          <p:cNvSpPr/>
          <p:nvPr/>
        </p:nvSpPr>
        <p:spPr bwMode="auto">
          <a:xfrm>
            <a:off x="320040" y="291693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</a:rPr>
              <a:t>Output</a:t>
            </a:r>
            <a:endParaRPr lang="en-US" sz="1300"/>
          </a:p>
        </p:txBody>
      </p:sp>
      <p:sp>
        <p:nvSpPr>
          <p:cNvPr id="1470350933" name="Shape 20"/>
          <p:cNvSpPr/>
          <p:nvPr/>
        </p:nvSpPr>
        <p:spPr bwMode="auto">
          <a:xfrm>
            <a:off x="3017519" y="2990088"/>
            <a:ext cx="2743200" cy="438912"/>
          </a:xfrm>
          <a:prstGeom prst="rect">
            <a:avLst/>
          </a:prstGeom>
          <a:solidFill>
            <a:srgbClr val="D0F5ED"/>
          </a:solidFill>
          <a:ln w="12700">
            <a:solidFill>
              <a:srgbClr val="D0F5ED"/>
            </a:solidFill>
            <a:prstDash val="solid"/>
          </a:ln>
        </p:spPr>
      </p:sp>
      <p:sp>
        <p:nvSpPr>
          <p:cNvPr id="844981701" name="Text 21"/>
          <p:cNvSpPr/>
          <p:nvPr/>
        </p:nvSpPr>
        <p:spPr bwMode="auto">
          <a:xfrm>
            <a:off x="3017519" y="291693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7A68"/>
                </a:solidFill>
              </a:rPr>
              <a:t>Reports &amp; Dashboards</a:t>
            </a:r>
            <a:endParaRPr lang="en-US" sz="1200"/>
          </a:p>
        </p:txBody>
      </p:sp>
      <p:sp>
        <p:nvSpPr>
          <p:cNvPr id="172994081" name="Shape 22"/>
          <p:cNvSpPr/>
          <p:nvPr/>
        </p:nvSpPr>
        <p:spPr bwMode="auto">
          <a:xfrm>
            <a:off x="5943600" y="2990088"/>
            <a:ext cx="2834640" cy="43891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52155170" name="Text 23"/>
          <p:cNvSpPr/>
          <p:nvPr/>
        </p:nvSpPr>
        <p:spPr bwMode="auto">
          <a:xfrm>
            <a:off x="5943600" y="291693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3A4B"/>
                </a:solidFill>
              </a:rPr>
              <a:t>ML Models</a:t>
            </a:r>
            <a:endParaRPr lang="en-US" sz="1200"/>
          </a:p>
        </p:txBody>
      </p:sp>
      <p:sp>
        <p:nvSpPr>
          <p:cNvPr id="1665734396" name="Shape 24"/>
          <p:cNvSpPr/>
          <p:nvPr/>
        </p:nvSpPr>
        <p:spPr bwMode="auto">
          <a:xfrm>
            <a:off x="182880" y="3575303"/>
            <a:ext cx="8778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C"/>
            </a:solidFill>
            <a:prstDash val="solid"/>
          </a:ln>
        </p:spPr>
      </p:sp>
      <p:sp>
        <p:nvSpPr>
          <p:cNvPr id="1939370798" name="Text 25"/>
          <p:cNvSpPr/>
          <p:nvPr/>
        </p:nvSpPr>
        <p:spPr bwMode="auto">
          <a:xfrm>
            <a:off x="320040" y="3575303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</a:rPr>
              <a:t>Answers</a:t>
            </a:r>
            <a:endParaRPr lang="en-US" sz="1300"/>
          </a:p>
        </p:txBody>
      </p:sp>
      <p:sp>
        <p:nvSpPr>
          <p:cNvPr id="11681711" name="Shape 26"/>
          <p:cNvSpPr/>
          <p:nvPr/>
        </p:nvSpPr>
        <p:spPr bwMode="auto">
          <a:xfrm>
            <a:off x="3017519" y="3648456"/>
            <a:ext cx="2743200" cy="438912"/>
          </a:xfrm>
          <a:prstGeom prst="rect">
            <a:avLst/>
          </a:prstGeom>
          <a:solidFill>
            <a:srgbClr val="D0F5ED"/>
          </a:solidFill>
          <a:ln w="12700">
            <a:solidFill>
              <a:srgbClr val="D0F5ED"/>
            </a:solidFill>
            <a:prstDash val="solid"/>
          </a:ln>
        </p:spPr>
      </p:sp>
      <p:sp>
        <p:nvSpPr>
          <p:cNvPr id="1106511601" name="Text 27"/>
          <p:cNvSpPr/>
          <p:nvPr/>
        </p:nvSpPr>
        <p:spPr bwMode="auto">
          <a:xfrm>
            <a:off x="3017519" y="3575303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7A68"/>
                </a:solidFill>
              </a:rPr>
              <a:t>"What happened?"</a:t>
            </a:r>
            <a:endParaRPr lang="en-US" sz="1200"/>
          </a:p>
        </p:txBody>
      </p:sp>
      <p:sp>
        <p:nvSpPr>
          <p:cNvPr id="1438146935" name="Shape 28"/>
          <p:cNvSpPr/>
          <p:nvPr/>
        </p:nvSpPr>
        <p:spPr bwMode="auto">
          <a:xfrm>
            <a:off x="5943600" y="3648456"/>
            <a:ext cx="2834640" cy="43891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476720885" name="Text 29"/>
          <p:cNvSpPr/>
          <p:nvPr/>
        </p:nvSpPr>
        <p:spPr bwMode="auto">
          <a:xfrm>
            <a:off x="5943600" y="3575303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3A4B"/>
                </a:solidFill>
              </a:rPr>
              <a:t>"What will happen?"</a:t>
            </a:r>
            <a:endParaRPr lang="en-US" sz="1200"/>
          </a:p>
        </p:txBody>
      </p:sp>
      <p:sp>
        <p:nvSpPr>
          <p:cNvPr id="139928725" name="Shape 30"/>
          <p:cNvSpPr/>
          <p:nvPr/>
        </p:nvSpPr>
        <p:spPr bwMode="auto">
          <a:xfrm>
            <a:off x="182880" y="4233672"/>
            <a:ext cx="8778240" cy="594360"/>
          </a:xfrm>
          <a:prstGeom prst="rect">
            <a:avLst/>
          </a:prstGeom>
          <a:solidFill>
            <a:srgbClr val="EFF7FB"/>
          </a:solidFill>
          <a:ln w="6350">
            <a:solidFill>
              <a:srgbClr val="D0E4EC"/>
            </a:solidFill>
            <a:prstDash val="solid"/>
          </a:ln>
        </p:spPr>
      </p:sp>
      <p:sp>
        <p:nvSpPr>
          <p:cNvPr id="1959688934" name="Text 31"/>
          <p:cNvSpPr/>
          <p:nvPr/>
        </p:nvSpPr>
        <p:spPr bwMode="auto">
          <a:xfrm>
            <a:off x="320040" y="4233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</a:rPr>
              <a:t>Category</a:t>
            </a:r>
            <a:endParaRPr lang="en-US" sz="1300"/>
          </a:p>
        </p:txBody>
      </p:sp>
      <p:sp>
        <p:nvSpPr>
          <p:cNvPr id="1608561122" name="Shape 32"/>
          <p:cNvSpPr/>
          <p:nvPr/>
        </p:nvSpPr>
        <p:spPr bwMode="auto">
          <a:xfrm>
            <a:off x="3017519" y="4306824"/>
            <a:ext cx="2743200" cy="438912"/>
          </a:xfrm>
          <a:prstGeom prst="rect">
            <a:avLst/>
          </a:prstGeom>
          <a:solidFill>
            <a:srgbClr val="D0F5ED"/>
          </a:solidFill>
          <a:ln w="12700">
            <a:solidFill>
              <a:srgbClr val="D0F5ED"/>
            </a:solidFill>
            <a:prstDash val="solid"/>
          </a:ln>
        </p:spPr>
      </p:sp>
      <p:sp>
        <p:nvSpPr>
          <p:cNvPr id="2028336548" name="Text 33"/>
          <p:cNvSpPr/>
          <p:nvPr/>
        </p:nvSpPr>
        <p:spPr bwMode="auto">
          <a:xfrm>
            <a:off x="3017519" y="42336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7A68"/>
                </a:solidFill>
              </a:rPr>
              <a:t>Business Intelligence</a:t>
            </a:r>
            <a:endParaRPr lang="en-US" sz="1200"/>
          </a:p>
        </p:txBody>
      </p:sp>
      <p:sp>
        <p:nvSpPr>
          <p:cNvPr id="806484018" name="Shape 34"/>
          <p:cNvSpPr/>
          <p:nvPr/>
        </p:nvSpPr>
        <p:spPr bwMode="auto">
          <a:xfrm>
            <a:off x="5943600" y="4306824"/>
            <a:ext cx="2834640" cy="43891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582232796" name="Text 35"/>
          <p:cNvSpPr/>
          <p:nvPr/>
        </p:nvSpPr>
        <p:spPr bwMode="auto">
          <a:xfrm>
            <a:off x="5943600" y="42336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3A4B"/>
                </a:solidFill>
              </a:rPr>
              <a:t>Artificial Intelligence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761293" name="Shape 0"/>
          <p:cNvSpPr/>
          <p:nvPr/>
        </p:nvSpPr>
        <p:spPr bwMode="auto">
          <a:xfrm>
            <a:off x="0" y="0"/>
            <a:ext cx="9144000" cy="96012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741554832" name="Text 1"/>
          <p:cNvSpPr/>
          <p:nvPr/>
        </p:nvSpPr>
        <p:spPr bwMode="auto"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 WORLD: GOOGLE MAPS 🗺️</a:t>
            </a:r>
            <a:endParaRPr lang="en-US" sz="2600"/>
          </a:p>
        </p:txBody>
      </p:sp>
      <p:sp>
        <p:nvSpPr>
          <p:cNvPr id="220943721" name="Text 2"/>
          <p:cNvSpPr/>
          <p:nvPr/>
        </p:nvSpPr>
        <p:spPr bwMode="auto">
          <a:xfrm>
            <a:off x="36576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B0C4CE"/>
                </a:solidFill>
              </a:rPr>
              <a:t>Google Maps collects traffic, vehicle movement, road conditions &amp; historical patterns.</a:t>
            </a:r>
            <a:endParaRPr lang="en-US" sz="1400"/>
          </a:p>
        </p:txBody>
      </p:sp>
      <p:sp>
        <p:nvSpPr>
          <p:cNvPr id="773532470" name="Shape 3"/>
          <p:cNvSpPr/>
          <p:nvPr/>
        </p:nvSpPr>
        <p:spPr bwMode="auto">
          <a:xfrm>
            <a:off x="365760" y="1600200"/>
            <a:ext cx="3931920" cy="310896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0766758" name="Shape 4"/>
          <p:cNvSpPr/>
          <p:nvPr/>
        </p:nvSpPr>
        <p:spPr bwMode="auto">
          <a:xfrm>
            <a:off x="365760" y="1600200"/>
            <a:ext cx="39319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23297082" name="Text 5"/>
          <p:cNvSpPr/>
          <p:nvPr/>
        </p:nvSpPr>
        <p:spPr bwMode="auto">
          <a:xfrm>
            <a:off x="365760" y="1600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📊 Data Analytics</a:t>
            </a:r>
            <a:endParaRPr lang="en-US" sz="1500"/>
          </a:p>
        </p:txBody>
      </p:sp>
      <p:sp>
        <p:nvSpPr>
          <p:cNvPr id="103879548" name="Text 6"/>
          <p:cNvSpPr/>
          <p:nvPr/>
        </p:nvSpPr>
        <p:spPr bwMode="auto">
          <a:xfrm>
            <a:off x="502920" y="21945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</a:rPr>
              <a:t>• Which roads are congested?</a:t>
            </a:r>
            <a:br>
              <a:rPr lang="en-US" sz="1300">
                <a:solidFill>
                  <a:srgbClr val="FFFFFF"/>
                </a:solidFill>
              </a:rPr>
            </a:br>
            <a:r>
              <a:rPr lang="en-US" sz="1300">
                <a:solidFill>
                  <a:srgbClr val="FFFFFF"/>
                </a:solidFill>
              </a:rPr>
              <a:t>• Which route is currently faster?</a:t>
            </a:r>
            <a:br>
              <a:rPr lang="en-US" sz="1300">
                <a:solidFill>
                  <a:srgbClr val="FFFFFF"/>
                </a:solidFill>
              </a:rPr>
            </a:br>
            <a:r>
              <a:rPr lang="en-US" sz="1300">
                <a:solidFill>
                  <a:srgbClr val="FFFFFF"/>
                </a:solidFill>
              </a:rPr>
              <a:t>• What is the current traffic situation?</a:t>
            </a:r>
            <a:br>
              <a:rPr lang="en-US" sz="1300">
                <a:solidFill>
                  <a:srgbClr val="FFFFFF"/>
                </a:solidFill>
              </a:rPr>
            </a:b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02C39A"/>
                </a:solidFill>
              </a:rPr>
              <a:t>Answers: What is happening NOW?</a:t>
            </a:r>
            <a:endParaRPr lang="en-US" sz="1300"/>
          </a:p>
        </p:txBody>
      </p:sp>
      <p:sp>
        <p:nvSpPr>
          <p:cNvPr id="82986844" name="Shape 7"/>
          <p:cNvSpPr/>
          <p:nvPr/>
        </p:nvSpPr>
        <p:spPr bwMode="auto">
          <a:xfrm>
            <a:off x="4846320" y="1600200"/>
            <a:ext cx="3931920" cy="3108960"/>
          </a:xfrm>
          <a:prstGeom prst="rect">
            <a:avLst/>
          </a:prstGeom>
          <a:solidFill>
            <a:srgbClr val="1B3A4B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74695106" name="Shape 8"/>
          <p:cNvSpPr/>
          <p:nvPr/>
        </p:nvSpPr>
        <p:spPr bwMode="auto">
          <a:xfrm>
            <a:off x="4846320" y="1600200"/>
            <a:ext cx="3931920" cy="502920"/>
          </a:xfrm>
          <a:prstGeom prst="rect">
            <a:avLst/>
          </a:prstGeom>
          <a:solidFill>
            <a:srgbClr val="1B5E7B"/>
          </a:solidFill>
          <a:ln w="12700">
            <a:solidFill>
              <a:srgbClr val="1B5E7B"/>
            </a:solidFill>
            <a:prstDash val="solid"/>
          </a:ln>
        </p:spPr>
      </p:sp>
      <p:sp>
        <p:nvSpPr>
          <p:cNvPr id="1160651596" name="Text 9"/>
          <p:cNvSpPr/>
          <p:nvPr/>
        </p:nvSpPr>
        <p:spPr bwMode="auto">
          <a:xfrm>
            <a:off x="4846320" y="1600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🔮 Data Science</a:t>
            </a:r>
            <a:endParaRPr lang="en-US" sz="1500"/>
          </a:p>
        </p:txBody>
      </p:sp>
      <p:sp>
        <p:nvSpPr>
          <p:cNvPr id="716647883" name="Text 10"/>
          <p:cNvSpPr/>
          <p:nvPr/>
        </p:nvSpPr>
        <p:spPr bwMode="auto">
          <a:xfrm>
            <a:off x="4983480" y="21945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</a:rPr>
              <a:t>• What will traffic look like in 30 min?</a:t>
            </a:r>
            <a:br>
              <a:rPr lang="en-US" sz="1300">
                <a:solidFill>
                  <a:srgbClr val="FFFFFF"/>
                </a:solidFill>
              </a:rPr>
            </a:br>
            <a:r>
              <a:rPr lang="en-US" sz="1300">
                <a:solidFill>
                  <a:srgbClr val="FFFFFF"/>
                </a:solidFill>
              </a:rPr>
              <a:t>• What is the expected arrival time?</a:t>
            </a:r>
            <a:br>
              <a:rPr lang="en-US" sz="1300">
                <a:solidFill>
                  <a:srgbClr val="FFFFFF"/>
                </a:solidFill>
              </a:rPr>
            </a:br>
            <a:r>
              <a:rPr lang="en-US" sz="1300">
                <a:solidFill>
                  <a:srgbClr val="FFFFFF"/>
                </a:solidFill>
              </a:rPr>
              <a:t>• Which route will become congested?</a:t>
            </a:r>
            <a:br>
              <a:rPr lang="en-US" sz="1300">
                <a:solidFill>
                  <a:srgbClr val="FFFFFF"/>
                </a:solidFill>
              </a:rPr>
            </a:b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0A500"/>
                </a:solidFill>
              </a:rPr>
              <a:t>Answers: What will happen NEXT?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E8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143035" name="Shape 0"/>
          <p:cNvSpPr/>
          <p:nvPr/>
        </p:nvSpPr>
        <p:spPr bwMode="auto"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46640551" name="Text 1"/>
          <p:cNvSpPr/>
          <p:nvPr/>
        </p:nvSpPr>
        <p:spPr bwMode="auto"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MORE REAL-WORLD EXAMPLES</a:t>
            </a:r>
            <a:endParaRPr lang="en-US" sz="2800"/>
          </a:p>
        </p:txBody>
      </p:sp>
      <p:sp>
        <p:nvSpPr>
          <p:cNvPr id="1741985111" name="Shape 2"/>
          <p:cNvSpPr/>
          <p:nvPr/>
        </p:nvSpPr>
        <p:spPr bwMode="auto">
          <a:xfrm>
            <a:off x="182880" y="11430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320291418" name="Text 3"/>
          <p:cNvSpPr/>
          <p:nvPr/>
        </p:nvSpPr>
        <p:spPr bwMode="auto">
          <a:xfrm>
            <a:off x="32004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D1B2A"/>
                </a:solidFill>
              </a:rPr>
              <a:t>🛒 E-Commerce</a:t>
            </a:r>
            <a:endParaRPr lang="en-US" sz="1500"/>
          </a:p>
        </p:txBody>
      </p:sp>
      <p:sp>
        <p:nvSpPr>
          <p:cNvPr id="2019642131" name="Shape 4"/>
          <p:cNvSpPr/>
          <p:nvPr/>
        </p:nvSpPr>
        <p:spPr bwMode="auto">
          <a:xfrm>
            <a:off x="320040" y="1645920"/>
            <a:ext cx="10972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85900014" name="Text 5"/>
          <p:cNvSpPr/>
          <p:nvPr/>
        </p:nvSpPr>
        <p:spPr bwMode="auto">
          <a:xfrm>
            <a:off x="530352" y="16184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7A68"/>
                </a:solidFill>
              </a:rPr>
              <a:t>Analytics: Analyzes search, purchase &amp; browsing history</a:t>
            </a:r>
            <a:endParaRPr lang="en-US" sz="1100"/>
          </a:p>
        </p:txBody>
      </p:sp>
      <p:sp>
        <p:nvSpPr>
          <p:cNvPr id="674522046" name="Shape 6"/>
          <p:cNvSpPr/>
          <p:nvPr/>
        </p:nvSpPr>
        <p:spPr bwMode="auto">
          <a:xfrm>
            <a:off x="320040" y="2194560"/>
            <a:ext cx="109728" cy="502920"/>
          </a:xfrm>
          <a:prstGeom prst="rect">
            <a:avLst/>
          </a:prstGeom>
          <a:solidFill>
            <a:srgbClr val="1B5E7B"/>
          </a:solidFill>
          <a:ln w="12700">
            <a:solidFill>
              <a:srgbClr val="1B5E7B"/>
            </a:solidFill>
            <a:prstDash val="solid"/>
          </a:ln>
        </p:spPr>
      </p:sp>
      <p:sp>
        <p:nvSpPr>
          <p:cNvPr id="1845945901" name="Text 7"/>
          <p:cNvSpPr/>
          <p:nvPr/>
        </p:nvSpPr>
        <p:spPr bwMode="auto">
          <a:xfrm>
            <a:off x="530352" y="2167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B5E7B"/>
                </a:solidFill>
              </a:rPr>
              <a:t>Science: Predicts what you're likely to buy next</a:t>
            </a:r>
            <a:endParaRPr lang="en-US" sz="1100"/>
          </a:p>
        </p:txBody>
      </p:sp>
      <p:sp>
        <p:nvSpPr>
          <p:cNvPr id="1305050652" name="Shape 8"/>
          <p:cNvSpPr/>
          <p:nvPr/>
        </p:nvSpPr>
        <p:spPr bwMode="auto">
          <a:xfrm>
            <a:off x="4663440" y="11430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451192811" name="Text 9"/>
          <p:cNvSpPr/>
          <p:nvPr/>
        </p:nvSpPr>
        <p:spPr bwMode="auto">
          <a:xfrm>
            <a:off x="480060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D1B2A"/>
                </a:solidFill>
              </a:rPr>
              <a:t>🎬 Netflix</a:t>
            </a:r>
            <a:endParaRPr lang="en-US" sz="1500"/>
          </a:p>
        </p:txBody>
      </p:sp>
      <p:sp>
        <p:nvSpPr>
          <p:cNvPr id="1329396005" name="Shape 10"/>
          <p:cNvSpPr/>
          <p:nvPr/>
        </p:nvSpPr>
        <p:spPr bwMode="auto">
          <a:xfrm>
            <a:off x="4800600" y="1645920"/>
            <a:ext cx="10972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5885602" name="Text 11"/>
          <p:cNvSpPr/>
          <p:nvPr/>
        </p:nvSpPr>
        <p:spPr bwMode="auto">
          <a:xfrm>
            <a:off x="5010912" y="16184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7A68"/>
                </a:solidFill>
              </a:rPr>
              <a:t>Analytics: Shows what users watched &amp; popular content</a:t>
            </a:r>
            <a:endParaRPr lang="en-US" sz="1100"/>
          </a:p>
        </p:txBody>
      </p:sp>
      <p:sp>
        <p:nvSpPr>
          <p:cNvPr id="1223057092" name="Shape 12"/>
          <p:cNvSpPr/>
          <p:nvPr/>
        </p:nvSpPr>
        <p:spPr bwMode="auto">
          <a:xfrm>
            <a:off x="4800600" y="2194560"/>
            <a:ext cx="109728" cy="502920"/>
          </a:xfrm>
          <a:prstGeom prst="rect">
            <a:avLst/>
          </a:prstGeom>
          <a:solidFill>
            <a:srgbClr val="1B5E7B"/>
          </a:solidFill>
          <a:ln w="12700">
            <a:solidFill>
              <a:srgbClr val="1B5E7B"/>
            </a:solidFill>
            <a:prstDash val="solid"/>
          </a:ln>
        </p:spPr>
      </p:sp>
      <p:sp>
        <p:nvSpPr>
          <p:cNvPr id="389847823" name="Text 13"/>
          <p:cNvSpPr/>
          <p:nvPr/>
        </p:nvSpPr>
        <p:spPr bwMode="auto">
          <a:xfrm>
            <a:off x="5010912" y="2167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B5E7B"/>
                </a:solidFill>
              </a:rPr>
              <a:t>Science: Predicts what you'll watch next</a:t>
            </a:r>
            <a:endParaRPr lang="en-US" sz="1100"/>
          </a:p>
        </p:txBody>
      </p:sp>
      <p:sp>
        <p:nvSpPr>
          <p:cNvPr id="677032435" name="Shape 14"/>
          <p:cNvSpPr/>
          <p:nvPr/>
        </p:nvSpPr>
        <p:spPr bwMode="auto">
          <a:xfrm>
            <a:off x="182880" y="30632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524140335" name="Text 15"/>
          <p:cNvSpPr/>
          <p:nvPr/>
        </p:nvSpPr>
        <p:spPr bwMode="auto">
          <a:xfrm>
            <a:off x="32004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D1B2A"/>
                </a:solidFill>
              </a:rPr>
              <a:t>🏦 Banking</a:t>
            </a:r>
            <a:endParaRPr lang="en-US" sz="1500"/>
          </a:p>
        </p:txBody>
      </p:sp>
      <p:sp>
        <p:nvSpPr>
          <p:cNvPr id="953601341" name="Shape 16"/>
          <p:cNvSpPr/>
          <p:nvPr/>
        </p:nvSpPr>
        <p:spPr bwMode="auto">
          <a:xfrm>
            <a:off x="320040" y="3566160"/>
            <a:ext cx="10972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37679834" name="Text 17"/>
          <p:cNvSpPr/>
          <p:nvPr/>
        </p:nvSpPr>
        <p:spPr bwMode="auto">
          <a:xfrm>
            <a:off x="530352" y="3538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7A68"/>
                </a:solidFill>
              </a:rPr>
              <a:t>Analytics: Reviews income, loans &amp; credit history</a:t>
            </a:r>
            <a:endParaRPr lang="en-US" sz="1100"/>
          </a:p>
        </p:txBody>
      </p:sp>
      <p:sp>
        <p:nvSpPr>
          <p:cNvPr id="151414055" name="Shape 18"/>
          <p:cNvSpPr/>
          <p:nvPr/>
        </p:nvSpPr>
        <p:spPr bwMode="auto">
          <a:xfrm>
            <a:off x="320040" y="4114800"/>
            <a:ext cx="109728" cy="502920"/>
          </a:xfrm>
          <a:prstGeom prst="rect">
            <a:avLst/>
          </a:prstGeom>
          <a:solidFill>
            <a:srgbClr val="1B5E7B"/>
          </a:solidFill>
          <a:ln w="12700">
            <a:solidFill>
              <a:srgbClr val="1B5E7B"/>
            </a:solidFill>
            <a:prstDash val="solid"/>
          </a:ln>
        </p:spPr>
      </p:sp>
      <p:sp>
        <p:nvSpPr>
          <p:cNvPr id="1057082860" name="Text 19"/>
          <p:cNvSpPr/>
          <p:nvPr/>
        </p:nvSpPr>
        <p:spPr bwMode="auto">
          <a:xfrm>
            <a:off x="530352" y="4087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B5E7B"/>
                </a:solidFill>
              </a:rPr>
              <a:t>Science: Predicts loan default probability &amp; credit risk</a:t>
            </a:r>
            <a:endParaRPr lang="en-US" sz="1100"/>
          </a:p>
        </p:txBody>
      </p:sp>
      <p:sp>
        <p:nvSpPr>
          <p:cNvPr id="447405841" name="Shape 20"/>
          <p:cNvSpPr/>
          <p:nvPr/>
        </p:nvSpPr>
        <p:spPr bwMode="auto">
          <a:xfrm>
            <a:off x="4663440" y="30632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511241472" name="Text 21"/>
          <p:cNvSpPr/>
          <p:nvPr/>
        </p:nvSpPr>
        <p:spPr bwMode="auto">
          <a:xfrm>
            <a:off x="480060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D1B2A"/>
                </a:solidFill>
              </a:rPr>
              <a:t>🍕 Food Delivery</a:t>
            </a:r>
            <a:endParaRPr lang="en-US" sz="1500"/>
          </a:p>
        </p:txBody>
      </p:sp>
      <p:sp>
        <p:nvSpPr>
          <p:cNvPr id="1741206140" name="Shape 22"/>
          <p:cNvSpPr/>
          <p:nvPr/>
        </p:nvSpPr>
        <p:spPr bwMode="auto">
          <a:xfrm>
            <a:off x="4800600" y="3566160"/>
            <a:ext cx="10972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41245475" name="Text 23"/>
          <p:cNvSpPr/>
          <p:nvPr/>
        </p:nvSpPr>
        <p:spPr bwMode="auto">
          <a:xfrm>
            <a:off x="5010912" y="3538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7A68"/>
                </a:solidFill>
              </a:rPr>
              <a:t>Analytics: Analyzes distance, traffic &amp; rider availability</a:t>
            </a:r>
            <a:endParaRPr lang="en-US" sz="1100"/>
          </a:p>
        </p:txBody>
      </p:sp>
      <p:sp>
        <p:nvSpPr>
          <p:cNvPr id="1739847044" name="Shape 24"/>
          <p:cNvSpPr/>
          <p:nvPr/>
        </p:nvSpPr>
        <p:spPr bwMode="auto">
          <a:xfrm>
            <a:off x="4800600" y="4114800"/>
            <a:ext cx="109728" cy="502920"/>
          </a:xfrm>
          <a:prstGeom prst="rect">
            <a:avLst/>
          </a:prstGeom>
          <a:solidFill>
            <a:srgbClr val="1B5E7B"/>
          </a:solidFill>
          <a:ln w="12700">
            <a:solidFill>
              <a:srgbClr val="1B5E7B"/>
            </a:solidFill>
            <a:prstDash val="solid"/>
          </a:ln>
        </p:spPr>
      </p:sp>
      <p:sp>
        <p:nvSpPr>
          <p:cNvPr id="1978642421" name="Text 25"/>
          <p:cNvSpPr/>
          <p:nvPr/>
        </p:nvSpPr>
        <p:spPr bwMode="auto">
          <a:xfrm>
            <a:off x="5010912" y="4087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B5E7B"/>
                </a:solidFill>
              </a:rPr>
              <a:t>Science: Accurately predicts delivery time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695671" name="Shape 0"/>
          <p:cNvSpPr/>
          <p:nvPr/>
        </p:nvSpPr>
        <p:spPr bwMode="auto">
          <a:xfrm>
            <a:off x="0" y="0"/>
            <a:ext cx="9144000" cy="96012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640325794" name="Text 1"/>
          <p:cNvSpPr/>
          <p:nvPr/>
        </p:nvSpPr>
        <p:spPr bwMode="auto"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DATA LIFECYCLE</a:t>
            </a:r>
            <a:endParaRPr lang="en-US" sz="2800"/>
          </a:p>
        </p:txBody>
      </p:sp>
      <p:sp>
        <p:nvSpPr>
          <p:cNvPr id="617425517" name="Shape 2"/>
          <p:cNvSpPr/>
          <p:nvPr/>
        </p:nvSpPr>
        <p:spPr bwMode="auto">
          <a:xfrm>
            <a:off x="365760" y="1280160"/>
            <a:ext cx="1508759" cy="1508759"/>
          </a:xfrm>
          <a:prstGeom prst="rect">
            <a:avLst/>
          </a:prstGeom>
          <a:solidFill>
            <a:srgbClr val="1B5E7B"/>
          </a:solidFill>
          <a:ln w="12700">
            <a:solidFill>
              <a:srgbClr val="1B5E7B"/>
            </a:solidFill>
            <a:prstDash val="solid"/>
          </a:ln>
        </p:spPr>
      </p:sp>
      <p:sp>
        <p:nvSpPr>
          <p:cNvPr id="1633318816" name="Text 3"/>
          <p:cNvSpPr/>
          <p:nvPr/>
        </p:nvSpPr>
        <p:spPr bwMode="auto">
          <a:xfrm>
            <a:off x="365760" y="1280160"/>
            <a:ext cx="1508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00000"/>
                </a:solidFill>
              </a:rPr>
              <a:t>1</a:t>
            </a:r>
            <a:endParaRPr lang="en-US" sz="1300"/>
          </a:p>
        </p:txBody>
      </p:sp>
      <p:sp>
        <p:nvSpPr>
          <p:cNvPr id="1204995948" name="Text 4"/>
          <p:cNvSpPr/>
          <p:nvPr/>
        </p:nvSpPr>
        <p:spPr bwMode="auto">
          <a:xfrm>
            <a:off x="365760" y="1600200"/>
            <a:ext cx="15087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DATA</a:t>
            </a:r>
            <a:endParaRPr lang="en-US" sz="1200"/>
          </a:p>
        </p:txBody>
      </p:sp>
      <p:sp>
        <p:nvSpPr>
          <p:cNvPr id="1502521296" name="Text 5"/>
          <p:cNvSpPr/>
          <p:nvPr/>
        </p:nvSpPr>
        <p:spPr bwMode="auto">
          <a:xfrm>
            <a:off x="365760" y="2103120"/>
            <a:ext cx="1508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8F4F8"/>
                </a:solidFill>
              </a:rPr>
              <a:t>Daily sales transactions</a:t>
            </a:r>
            <a:endParaRPr lang="en-US" sz="1000"/>
          </a:p>
        </p:txBody>
      </p:sp>
      <p:sp>
        <p:nvSpPr>
          <p:cNvPr id="885399082" name="Text 6"/>
          <p:cNvSpPr/>
          <p:nvPr/>
        </p:nvSpPr>
        <p:spPr bwMode="auto">
          <a:xfrm>
            <a:off x="1901952" y="18288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F0A500"/>
                </a:solidFill>
              </a:rPr>
              <a:t>→</a:t>
            </a:r>
            <a:endParaRPr lang="en-US" sz="2000"/>
          </a:p>
        </p:txBody>
      </p:sp>
      <p:sp>
        <p:nvSpPr>
          <p:cNvPr id="1737229009" name="Shape 7"/>
          <p:cNvSpPr/>
          <p:nvPr/>
        </p:nvSpPr>
        <p:spPr bwMode="auto">
          <a:xfrm>
            <a:off x="2075688" y="1280160"/>
            <a:ext cx="1508759" cy="1508759"/>
          </a:xfrm>
          <a:prstGeom prst="rect">
            <a:avLst/>
          </a:prstGeom>
          <a:solidFill>
            <a:srgbClr val="007A68"/>
          </a:solidFill>
          <a:ln w="12700">
            <a:solidFill>
              <a:srgbClr val="007A68"/>
            </a:solidFill>
            <a:prstDash val="solid"/>
          </a:ln>
        </p:spPr>
      </p:sp>
      <p:sp>
        <p:nvSpPr>
          <p:cNvPr id="652828830" name="Text 8"/>
          <p:cNvSpPr/>
          <p:nvPr/>
        </p:nvSpPr>
        <p:spPr bwMode="auto">
          <a:xfrm>
            <a:off x="2075688" y="1280160"/>
            <a:ext cx="1508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00000"/>
                </a:solidFill>
              </a:rPr>
              <a:t>2</a:t>
            </a:r>
            <a:endParaRPr lang="en-US" sz="1300"/>
          </a:p>
        </p:txBody>
      </p:sp>
      <p:sp>
        <p:nvSpPr>
          <p:cNvPr id="815272254" name="Text 9"/>
          <p:cNvSpPr/>
          <p:nvPr/>
        </p:nvSpPr>
        <p:spPr bwMode="auto">
          <a:xfrm>
            <a:off x="2075688" y="1600200"/>
            <a:ext cx="15087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INFORMATION</a:t>
            </a:r>
            <a:endParaRPr lang="en-US" sz="1200"/>
          </a:p>
        </p:txBody>
      </p:sp>
      <p:sp>
        <p:nvSpPr>
          <p:cNvPr id="990096068" name="Text 10"/>
          <p:cNvSpPr/>
          <p:nvPr/>
        </p:nvSpPr>
        <p:spPr bwMode="auto">
          <a:xfrm>
            <a:off x="2075688" y="2103120"/>
            <a:ext cx="1508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8F4F8"/>
                </a:solidFill>
              </a:rPr>
              <a:t>Monthly sales report</a:t>
            </a:r>
            <a:endParaRPr lang="en-US" sz="1000"/>
          </a:p>
        </p:txBody>
      </p:sp>
      <p:sp>
        <p:nvSpPr>
          <p:cNvPr id="341926632" name="Text 11"/>
          <p:cNvSpPr/>
          <p:nvPr/>
        </p:nvSpPr>
        <p:spPr bwMode="auto">
          <a:xfrm>
            <a:off x="3611880" y="18288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F0A500"/>
                </a:solidFill>
              </a:rPr>
              <a:t>→</a:t>
            </a:r>
            <a:endParaRPr lang="en-US" sz="2000"/>
          </a:p>
        </p:txBody>
      </p:sp>
      <p:sp>
        <p:nvSpPr>
          <p:cNvPr id="1264615279" name="Shape 12"/>
          <p:cNvSpPr/>
          <p:nvPr/>
        </p:nvSpPr>
        <p:spPr bwMode="auto">
          <a:xfrm>
            <a:off x="3785616" y="1280160"/>
            <a:ext cx="1508759" cy="1508759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394517499" name="Text 13"/>
          <p:cNvSpPr/>
          <p:nvPr/>
        </p:nvSpPr>
        <p:spPr bwMode="auto">
          <a:xfrm>
            <a:off x="3785616" y="1280160"/>
            <a:ext cx="1508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00000"/>
                </a:solidFill>
              </a:rPr>
              <a:t>3</a:t>
            </a:r>
            <a:endParaRPr lang="en-US" sz="1300"/>
          </a:p>
        </p:txBody>
      </p:sp>
      <p:sp>
        <p:nvSpPr>
          <p:cNvPr id="1793843676" name="Text 14"/>
          <p:cNvSpPr/>
          <p:nvPr/>
        </p:nvSpPr>
        <p:spPr bwMode="auto">
          <a:xfrm>
            <a:off x="3785616" y="1600200"/>
            <a:ext cx="15087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INSIGHT</a:t>
            </a:r>
            <a:endParaRPr lang="en-US" sz="1200"/>
          </a:p>
        </p:txBody>
      </p:sp>
      <p:sp>
        <p:nvSpPr>
          <p:cNvPr id="412842789" name="Text 15"/>
          <p:cNvSpPr/>
          <p:nvPr/>
        </p:nvSpPr>
        <p:spPr bwMode="auto">
          <a:xfrm>
            <a:off x="3785616" y="2103120"/>
            <a:ext cx="1508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8F4F8"/>
                </a:solidFill>
              </a:rPr>
              <a:t>Sales drop on weekends</a:t>
            </a:r>
            <a:endParaRPr lang="en-US" sz="1000"/>
          </a:p>
        </p:txBody>
      </p:sp>
      <p:sp>
        <p:nvSpPr>
          <p:cNvPr id="1733898479" name="Text 16"/>
          <p:cNvSpPr/>
          <p:nvPr/>
        </p:nvSpPr>
        <p:spPr bwMode="auto">
          <a:xfrm>
            <a:off x="5321808" y="18288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F0A500"/>
                </a:solidFill>
              </a:rPr>
              <a:t>→</a:t>
            </a:r>
            <a:endParaRPr lang="en-US" sz="2000"/>
          </a:p>
        </p:txBody>
      </p:sp>
      <p:sp>
        <p:nvSpPr>
          <p:cNvPr id="1388348619" name="Shape 17"/>
          <p:cNvSpPr/>
          <p:nvPr/>
        </p:nvSpPr>
        <p:spPr bwMode="auto">
          <a:xfrm>
            <a:off x="5495544" y="1280160"/>
            <a:ext cx="1508759" cy="1508759"/>
          </a:xfrm>
          <a:prstGeom prst="rect">
            <a:avLst/>
          </a:prstGeom>
          <a:solidFill>
            <a:srgbClr val="B8540A"/>
          </a:solidFill>
          <a:ln w="12700">
            <a:solidFill>
              <a:srgbClr val="B8540A"/>
            </a:solidFill>
            <a:prstDash val="solid"/>
          </a:ln>
        </p:spPr>
      </p:sp>
      <p:sp>
        <p:nvSpPr>
          <p:cNvPr id="1616050154" name="Text 18"/>
          <p:cNvSpPr/>
          <p:nvPr/>
        </p:nvSpPr>
        <p:spPr bwMode="auto">
          <a:xfrm>
            <a:off x="5495544" y="1280160"/>
            <a:ext cx="1508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00000"/>
                </a:solidFill>
              </a:rPr>
              <a:t>4</a:t>
            </a:r>
            <a:endParaRPr lang="en-US" sz="1300"/>
          </a:p>
        </p:txBody>
      </p:sp>
      <p:sp>
        <p:nvSpPr>
          <p:cNvPr id="88339912" name="Text 19"/>
          <p:cNvSpPr/>
          <p:nvPr/>
        </p:nvSpPr>
        <p:spPr bwMode="auto">
          <a:xfrm>
            <a:off x="5495544" y="1600200"/>
            <a:ext cx="15087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PREDICTION</a:t>
            </a:r>
            <a:endParaRPr lang="en-US" sz="1200"/>
          </a:p>
        </p:txBody>
      </p:sp>
      <p:sp>
        <p:nvSpPr>
          <p:cNvPr id="1443010534" name="Text 20"/>
          <p:cNvSpPr/>
          <p:nvPr/>
        </p:nvSpPr>
        <p:spPr bwMode="auto">
          <a:xfrm>
            <a:off x="5495544" y="2103120"/>
            <a:ext cx="1508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8F4F8"/>
                </a:solidFill>
              </a:rPr>
              <a:t>Weekend dip next month</a:t>
            </a:r>
            <a:endParaRPr lang="en-US" sz="1000"/>
          </a:p>
        </p:txBody>
      </p:sp>
      <p:sp>
        <p:nvSpPr>
          <p:cNvPr id="1624837635" name="Text 21"/>
          <p:cNvSpPr/>
          <p:nvPr/>
        </p:nvSpPr>
        <p:spPr bwMode="auto">
          <a:xfrm>
            <a:off x="7031736" y="18288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F0A500"/>
                </a:solidFill>
              </a:rPr>
              <a:t>→</a:t>
            </a:r>
            <a:endParaRPr lang="en-US" sz="2000"/>
          </a:p>
        </p:txBody>
      </p:sp>
      <p:sp>
        <p:nvSpPr>
          <p:cNvPr id="53740359" name="Shape 22"/>
          <p:cNvSpPr/>
          <p:nvPr/>
        </p:nvSpPr>
        <p:spPr bwMode="auto">
          <a:xfrm>
            <a:off x="7205471" y="1280160"/>
            <a:ext cx="1508759" cy="1508759"/>
          </a:xfrm>
          <a:prstGeom prst="rect">
            <a:avLst/>
          </a:prstGeom>
          <a:solidFill>
            <a:srgbClr val="7B1C2A"/>
          </a:solidFill>
          <a:ln w="12700">
            <a:solidFill>
              <a:srgbClr val="7B1C2A"/>
            </a:solidFill>
            <a:prstDash val="solid"/>
          </a:ln>
        </p:spPr>
      </p:sp>
      <p:sp>
        <p:nvSpPr>
          <p:cNvPr id="2084902831" name="Text 23"/>
          <p:cNvSpPr/>
          <p:nvPr/>
        </p:nvSpPr>
        <p:spPr bwMode="auto">
          <a:xfrm>
            <a:off x="7205471" y="1280160"/>
            <a:ext cx="1508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00000"/>
                </a:solidFill>
              </a:rPr>
              <a:t>5</a:t>
            </a:r>
            <a:endParaRPr lang="en-US" sz="1300"/>
          </a:p>
        </p:txBody>
      </p:sp>
      <p:sp>
        <p:nvSpPr>
          <p:cNvPr id="1649189602" name="Text 24"/>
          <p:cNvSpPr/>
          <p:nvPr/>
        </p:nvSpPr>
        <p:spPr bwMode="auto">
          <a:xfrm>
            <a:off x="7205471" y="1600200"/>
            <a:ext cx="15087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DECISION</a:t>
            </a:r>
            <a:endParaRPr lang="en-US" sz="1200"/>
          </a:p>
        </p:txBody>
      </p:sp>
      <p:sp>
        <p:nvSpPr>
          <p:cNvPr id="399210999" name="Text 25"/>
          <p:cNvSpPr/>
          <p:nvPr/>
        </p:nvSpPr>
        <p:spPr bwMode="auto">
          <a:xfrm>
            <a:off x="7205471" y="2103120"/>
            <a:ext cx="1508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8F4F8"/>
                </a:solidFill>
              </a:rPr>
              <a:t>Launch weekend promotions</a:t>
            </a:r>
            <a:endParaRPr lang="en-US" sz="1000"/>
          </a:p>
        </p:txBody>
      </p:sp>
      <p:sp>
        <p:nvSpPr>
          <p:cNvPr id="1990288150" name="Shape 26"/>
          <p:cNvSpPr/>
          <p:nvPr/>
        </p:nvSpPr>
        <p:spPr bwMode="auto">
          <a:xfrm>
            <a:off x="365760" y="3108960"/>
            <a:ext cx="8412480" cy="1600200"/>
          </a:xfrm>
          <a:prstGeom prst="rect">
            <a:avLst/>
          </a:prstGeom>
          <a:solidFill>
            <a:srgbClr val="1B3A4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59966504" name="Text 27"/>
          <p:cNvSpPr/>
          <p:nvPr/>
        </p:nvSpPr>
        <p:spPr bwMode="auto"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A896"/>
                </a:solidFill>
              </a:rPr>
              <a:t>KEY TAKEAWAY</a:t>
            </a:r>
            <a:endParaRPr lang="en-US" sz="1300"/>
          </a:p>
        </p:txBody>
      </p:sp>
      <p:sp>
        <p:nvSpPr>
          <p:cNvPr id="704843854" name="Text 28"/>
          <p:cNvSpPr/>
          <p:nvPr/>
        </p:nvSpPr>
        <p:spPr bwMode="auto">
          <a:xfrm>
            <a:off x="548640" y="3566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Organizations that master the data lifecycle — from raw data to smart decisions — gain a significant competitive advantage. Data Analytics shows what happened; Data Science predicts what's coming.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E8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382272" name="Shape 0"/>
          <p:cNvSpPr/>
          <p:nvPr/>
        </p:nvSpPr>
        <p:spPr bwMode="auto"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57939300" name="Text 1"/>
          <p:cNvSpPr/>
          <p:nvPr/>
        </p:nvSpPr>
        <p:spPr bwMode="auto"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REAL-WORLD INDUSTRY APPLICATIONS</a:t>
            </a:r>
            <a:endParaRPr lang="en-US" sz="2600"/>
          </a:p>
        </p:txBody>
      </p:sp>
      <p:sp>
        <p:nvSpPr>
          <p:cNvPr id="726294493" name="Shape 2"/>
          <p:cNvSpPr/>
          <p:nvPr/>
        </p:nvSpPr>
        <p:spPr bwMode="auto">
          <a:xfrm>
            <a:off x="228600" y="114300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1458336436" name="Shape 3"/>
          <p:cNvSpPr/>
          <p:nvPr/>
        </p:nvSpPr>
        <p:spPr bwMode="auto">
          <a:xfrm>
            <a:off x="228600" y="1143000"/>
            <a:ext cx="155448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23031188" name="Text 4"/>
          <p:cNvSpPr/>
          <p:nvPr/>
        </p:nvSpPr>
        <p:spPr bwMode="auto">
          <a:xfrm>
            <a:off x="22860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000000"/>
                </a:solidFill>
              </a:rPr>
              <a:t>🏥</a:t>
            </a:r>
            <a:endParaRPr lang="en-US" sz="1800"/>
          </a:p>
        </p:txBody>
      </p:sp>
      <p:sp>
        <p:nvSpPr>
          <p:cNvPr id="1348502622" name="Text 5"/>
          <p:cNvSpPr/>
          <p:nvPr/>
        </p:nvSpPr>
        <p:spPr bwMode="auto">
          <a:xfrm>
            <a:off x="228600" y="1444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Healthcare</a:t>
            </a:r>
            <a:endParaRPr lang="en-US" sz="1100"/>
          </a:p>
        </p:txBody>
      </p:sp>
      <p:sp>
        <p:nvSpPr>
          <p:cNvPr id="1778075639" name="Text 6"/>
          <p:cNvSpPr/>
          <p:nvPr/>
        </p:nvSpPr>
        <p:spPr bwMode="auto">
          <a:xfrm>
            <a:off x="320040" y="18745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Disease Prediction</a:t>
            </a:r>
            <a:endParaRPr lang="en-US" sz="1100"/>
          </a:p>
        </p:txBody>
      </p:sp>
      <p:sp>
        <p:nvSpPr>
          <p:cNvPr id="40723515" name="Text 7"/>
          <p:cNvSpPr/>
          <p:nvPr/>
        </p:nvSpPr>
        <p:spPr bwMode="auto">
          <a:xfrm>
            <a:off x="320040" y="24231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Patient Monitoring</a:t>
            </a:r>
            <a:endParaRPr lang="en-US" sz="1100"/>
          </a:p>
        </p:txBody>
      </p:sp>
      <p:sp>
        <p:nvSpPr>
          <p:cNvPr id="255346296" name="Text 8"/>
          <p:cNvSpPr/>
          <p:nvPr/>
        </p:nvSpPr>
        <p:spPr bwMode="auto">
          <a:xfrm>
            <a:off x="320040" y="29718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Treatment Recommendations</a:t>
            </a:r>
            <a:endParaRPr lang="en-US" sz="1100"/>
          </a:p>
        </p:txBody>
      </p:sp>
      <p:sp>
        <p:nvSpPr>
          <p:cNvPr id="1594541278" name="Shape 9"/>
          <p:cNvSpPr/>
          <p:nvPr/>
        </p:nvSpPr>
        <p:spPr bwMode="auto">
          <a:xfrm>
            <a:off x="1993392" y="114300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229659374" name="Shape 10"/>
          <p:cNvSpPr/>
          <p:nvPr/>
        </p:nvSpPr>
        <p:spPr bwMode="auto">
          <a:xfrm>
            <a:off x="1993392" y="1143000"/>
            <a:ext cx="155448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4098468" name="Text 11"/>
          <p:cNvSpPr/>
          <p:nvPr/>
        </p:nvSpPr>
        <p:spPr bwMode="auto">
          <a:xfrm>
            <a:off x="1993392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000000"/>
                </a:solidFill>
              </a:rPr>
              <a:t>🏦</a:t>
            </a:r>
            <a:endParaRPr lang="en-US" sz="1800"/>
          </a:p>
        </p:txBody>
      </p:sp>
      <p:sp>
        <p:nvSpPr>
          <p:cNvPr id="730019387" name="Text 12"/>
          <p:cNvSpPr/>
          <p:nvPr/>
        </p:nvSpPr>
        <p:spPr bwMode="auto">
          <a:xfrm>
            <a:off x="1993392" y="1444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Banking</a:t>
            </a:r>
            <a:endParaRPr lang="en-US" sz="1100"/>
          </a:p>
        </p:txBody>
      </p:sp>
      <p:sp>
        <p:nvSpPr>
          <p:cNvPr id="1120827315" name="Text 13"/>
          <p:cNvSpPr/>
          <p:nvPr/>
        </p:nvSpPr>
        <p:spPr bwMode="auto">
          <a:xfrm>
            <a:off x="2084832" y="18745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Fraud Detection</a:t>
            </a:r>
            <a:endParaRPr lang="en-US" sz="1100"/>
          </a:p>
        </p:txBody>
      </p:sp>
      <p:sp>
        <p:nvSpPr>
          <p:cNvPr id="1740099970" name="Text 14"/>
          <p:cNvSpPr/>
          <p:nvPr/>
        </p:nvSpPr>
        <p:spPr bwMode="auto">
          <a:xfrm>
            <a:off x="2084832" y="24231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Credit Scoring</a:t>
            </a:r>
            <a:endParaRPr lang="en-US" sz="1100"/>
          </a:p>
        </p:txBody>
      </p:sp>
      <p:sp>
        <p:nvSpPr>
          <p:cNvPr id="904017188" name="Text 15"/>
          <p:cNvSpPr/>
          <p:nvPr/>
        </p:nvSpPr>
        <p:spPr bwMode="auto">
          <a:xfrm>
            <a:off x="2084832" y="29718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Risk Management</a:t>
            </a:r>
            <a:endParaRPr lang="en-US" sz="1100"/>
          </a:p>
        </p:txBody>
      </p:sp>
      <p:sp>
        <p:nvSpPr>
          <p:cNvPr id="1448843897" name="Shape 16"/>
          <p:cNvSpPr/>
          <p:nvPr/>
        </p:nvSpPr>
        <p:spPr bwMode="auto">
          <a:xfrm>
            <a:off x="3758184" y="114300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1956654068" name="Shape 17"/>
          <p:cNvSpPr/>
          <p:nvPr/>
        </p:nvSpPr>
        <p:spPr bwMode="auto">
          <a:xfrm>
            <a:off x="3758184" y="1143000"/>
            <a:ext cx="155448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51100730" name="Text 18"/>
          <p:cNvSpPr/>
          <p:nvPr/>
        </p:nvSpPr>
        <p:spPr bwMode="auto">
          <a:xfrm>
            <a:off x="3758184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000000"/>
                </a:solidFill>
              </a:rPr>
              <a:t>🛍️</a:t>
            </a:r>
            <a:endParaRPr lang="en-US" sz="1800"/>
          </a:p>
        </p:txBody>
      </p:sp>
      <p:sp>
        <p:nvSpPr>
          <p:cNvPr id="1144580485" name="Text 19"/>
          <p:cNvSpPr/>
          <p:nvPr/>
        </p:nvSpPr>
        <p:spPr bwMode="auto">
          <a:xfrm>
            <a:off x="3758184" y="1444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Retail</a:t>
            </a:r>
            <a:endParaRPr lang="en-US" sz="1100"/>
          </a:p>
        </p:txBody>
      </p:sp>
      <p:sp>
        <p:nvSpPr>
          <p:cNvPr id="1603669888" name="Text 20"/>
          <p:cNvSpPr/>
          <p:nvPr/>
        </p:nvSpPr>
        <p:spPr bwMode="auto">
          <a:xfrm>
            <a:off x="3849624" y="18745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Customer Segmentation</a:t>
            </a:r>
            <a:endParaRPr lang="en-US" sz="1100"/>
          </a:p>
        </p:txBody>
      </p:sp>
      <p:sp>
        <p:nvSpPr>
          <p:cNvPr id="137503465" name="Text 21"/>
          <p:cNvSpPr/>
          <p:nvPr/>
        </p:nvSpPr>
        <p:spPr bwMode="auto">
          <a:xfrm>
            <a:off x="3849624" y="24231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Sales Forecasting</a:t>
            </a:r>
            <a:endParaRPr lang="en-US" sz="1100"/>
          </a:p>
        </p:txBody>
      </p:sp>
      <p:sp>
        <p:nvSpPr>
          <p:cNvPr id="274698402" name="Text 22"/>
          <p:cNvSpPr/>
          <p:nvPr/>
        </p:nvSpPr>
        <p:spPr bwMode="auto">
          <a:xfrm>
            <a:off x="3849624" y="29718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Product Recommendations</a:t>
            </a:r>
            <a:endParaRPr lang="en-US" sz="1100"/>
          </a:p>
        </p:txBody>
      </p:sp>
      <p:sp>
        <p:nvSpPr>
          <p:cNvPr id="1903357023" name="Shape 23"/>
          <p:cNvSpPr/>
          <p:nvPr/>
        </p:nvSpPr>
        <p:spPr bwMode="auto">
          <a:xfrm>
            <a:off x="5522976" y="114300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406582410" name="Shape 24"/>
          <p:cNvSpPr/>
          <p:nvPr/>
        </p:nvSpPr>
        <p:spPr bwMode="auto">
          <a:xfrm>
            <a:off x="5522976" y="1143000"/>
            <a:ext cx="155448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29943999" name="Text 25"/>
          <p:cNvSpPr/>
          <p:nvPr/>
        </p:nvSpPr>
        <p:spPr bwMode="auto">
          <a:xfrm>
            <a:off x="5522976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000000"/>
                </a:solidFill>
              </a:rPr>
              <a:t>🏨</a:t>
            </a:r>
            <a:endParaRPr lang="en-US" sz="1800"/>
          </a:p>
        </p:txBody>
      </p:sp>
      <p:sp>
        <p:nvSpPr>
          <p:cNvPr id="1375363277" name="Text 26"/>
          <p:cNvSpPr/>
          <p:nvPr/>
        </p:nvSpPr>
        <p:spPr bwMode="auto">
          <a:xfrm>
            <a:off x="5522976" y="1444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Hospitality</a:t>
            </a:r>
            <a:endParaRPr lang="en-US" sz="1100"/>
          </a:p>
        </p:txBody>
      </p:sp>
      <p:sp>
        <p:nvSpPr>
          <p:cNvPr id="1454381394" name="Text 27"/>
          <p:cNvSpPr/>
          <p:nvPr/>
        </p:nvSpPr>
        <p:spPr bwMode="auto">
          <a:xfrm>
            <a:off x="5614416" y="18745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Occupancy Forecasting</a:t>
            </a:r>
            <a:endParaRPr lang="en-US" sz="1100"/>
          </a:p>
        </p:txBody>
      </p:sp>
      <p:sp>
        <p:nvSpPr>
          <p:cNvPr id="356777964" name="Text 28"/>
          <p:cNvSpPr/>
          <p:nvPr/>
        </p:nvSpPr>
        <p:spPr bwMode="auto">
          <a:xfrm>
            <a:off x="5614416" y="24231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Revenue Optimization</a:t>
            </a:r>
            <a:endParaRPr lang="en-US" sz="1100"/>
          </a:p>
        </p:txBody>
      </p:sp>
      <p:sp>
        <p:nvSpPr>
          <p:cNvPr id="2110960295" name="Text 29"/>
          <p:cNvSpPr/>
          <p:nvPr/>
        </p:nvSpPr>
        <p:spPr bwMode="auto">
          <a:xfrm>
            <a:off x="5614416" y="29718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Customer Satisfaction</a:t>
            </a:r>
            <a:endParaRPr lang="en-US" sz="1100"/>
          </a:p>
        </p:txBody>
      </p:sp>
      <p:sp>
        <p:nvSpPr>
          <p:cNvPr id="1281082462" name="Shape 30"/>
          <p:cNvSpPr/>
          <p:nvPr/>
        </p:nvSpPr>
        <p:spPr bwMode="auto">
          <a:xfrm>
            <a:off x="7287768" y="114300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2123243223" name="Shape 31"/>
          <p:cNvSpPr/>
          <p:nvPr/>
        </p:nvSpPr>
        <p:spPr bwMode="auto">
          <a:xfrm>
            <a:off x="7287768" y="1143000"/>
            <a:ext cx="155448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85853438" name="Text 32"/>
          <p:cNvSpPr/>
          <p:nvPr/>
        </p:nvSpPr>
        <p:spPr bwMode="auto">
          <a:xfrm>
            <a:off x="7287768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000000"/>
                </a:solidFill>
              </a:rPr>
              <a:t>🏭</a:t>
            </a:r>
            <a:endParaRPr lang="en-US" sz="1800"/>
          </a:p>
        </p:txBody>
      </p:sp>
      <p:sp>
        <p:nvSpPr>
          <p:cNvPr id="1917722486" name="Text 33"/>
          <p:cNvSpPr/>
          <p:nvPr/>
        </p:nvSpPr>
        <p:spPr bwMode="auto">
          <a:xfrm>
            <a:off x="7287768" y="1444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Manufacturing</a:t>
            </a:r>
            <a:endParaRPr lang="en-US" sz="1100"/>
          </a:p>
        </p:txBody>
      </p:sp>
      <p:sp>
        <p:nvSpPr>
          <p:cNvPr id="160281210" name="Text 34"/>
          <p:cNvSpPr/>
          <p:nvPr/>
        </p:nvSpPr>
        <p:spPr bwMode="auto">
          <a:xfrm>
            <a:off x="7379208" y="18745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Predictive Maintenance</a:t>
            </a:r>
            <a:endParaRPr lang="en-US" sz="1100"/>
          </a:p>
        </p:txBody>
      </p:sp>
      <p:sp>
        <p:nvSpPr>
          <p:cNvPr id="1202555097" name="Text 35"/>
          <p:cNvSpPr/>
          <p:nvPr/>
        </p:nvSpPr>
        <p:spPr bwMode="auto">
          <a:xfrm>
            <a:off x="7379208" y="24231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Quality Monitoring</a:t>
            </a:r>
            <a:endParaRPr lang="en-US" sz="1100"/>
          </a:p>
        </p:txBody>
      </p:sp>
      <p:sp>
        <p:nvSpPr>
          <p:cNvPr id="1167980198" name="Text 36"/>
          <p:cNvSpPr/>
          <p:nvPr/>
        </p:nvSpPr>
        <p:spPr bwMode="auto">
          <a:xfrm>
            <a:off x="7379208" y="29718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34155"/>
                </a:solidFill>
              </a:rPr>
              <a:t>• Production Optimization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69033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11704904" name="Shape 1"/>
          <p:cNvSpPr/>
          <p:nvPr/>
        </p:nvSpPr>
        <p:spPr bwMode="auto">
          <a:xfrm>
            <a:off x="5943600" y="-731520"/>
            <a:ext cx="3657600" cy="36576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64663318" name="Shape 2"/>
          <p:cNvSpPr/>
          <p:nvPr/>
        </p:nvSpPr>
        <p:spPr bwMode="auto">
          <a:xfrm>
            <a:off x="-731520" y="3200400"/>
            <a:ext cx="2743200" cy="2743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1006572829" name="Shape 3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1433177" name="Text 4"/>
          <p:cNvSpPr/>
          <p:nvPr/>
        </p:nvSpPr>
        <p:spPr bwMode="auto"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 spc="300">
                <a:solidFill>
                  <a:srgbClr val="00A896"/>
                </a:solidFill>
              </a:rPr>
              <a:t>KEY TAKEAWAYS</a:t>
            </a:r>
            <a:endParaRPr lang="en-US" sz="1400"/>
          </a:p>
        </p:txBody>
      </p:sp>
      <p:sp>
        <p:nvSpPr>
          <p:cNvPr id="1542979487" name="Text 5"/>
          <p:cNvSpPr/>
          <p:nvPr/>
        </p:nvSpPr>
        <p:spPr bwMode="auto">
          <a:xfrm>
            <a:off x="457200" y="1097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000000"/>
                </a:solidFill>
              </a:rPr>
              <a:t>💡</a:t>
            </a:r>
            <a:endParaRPr lang="en-US" sz="2000"/>
          </a:p>
        </p:txBody>
      </p:sp>
      <p:sp>
        <p:nvSpPr>
          <p:cNvPr id="1708975003" name="Text 6"/>
          <p:cNvSpPr/>
          <p:nvPr/>
        </p:nvSpPr>
        <p:spPr bwMode="auto">
          <a:xfrm>
            <a:off x="100584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Data is one of the most valuable assets in modern organizations.</a:t>
            </a:r>
            <a:endParaRPr lang="en-US" sz="1500"/>
          </a:p>
        </p:txBody>
      </p:sp>
      <p:sp>
        <p:nvSpPr>
          <p:cNvPr id="2107203454" name="Text 7"/>
          <p:cNvSpPr/>
          <p:nvPr/>
        </p:nvSpPr>
        <p:spPr bwMode="auto">
          <a:xfrm>
            <a:off x="457200" y="19933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000000"/>
                </a:solidFill>
              </a:rPr>
              <a:t>📊</a:t>
            </a:r>
            <a:endParaRPr lang="en-US" sz="2000"/>
          </a:p>
        </p:txBody>
      </p:sp>
      <p:sp>
        <p:nvSpPr>
          <p:cNvPr id="1287542531" name="Text 8"/>
          <p:cNvSpPr/>
          <p:nvPr/>
        </p:nvSpPr>
        <p:spPr bwMode="auto">
          <a:xfrm>
            <a:off x="1005840" y="19933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Data Analytics helps understand what happened and why.</a:t>
            </a:r>
            <a:endParaRPr lang="en-US" sz="1500"/>
          </a:p>
        </p:txBody>
      </p:sp>
      <p:sp>
        <p:nvSpPr>
          <p:cNvPr id="1124971479" name="Text 9"/>
          <p:cNvSpPr/>
          <p:nvPr/>
        </p:nvSpPr>
        <p:spPr bwMode="auto">
          <a:xfrm>
            <a:off x="457200" y="288950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000000"/>
                </a:solidFill>
              </a:rPr>
              <a:t>🔮</a:t>
            </a:r>
            <a:endParaRPr lang="en-US" sz="2000"/>
          </a:p>
        </p:txBody>
      </p:sp>
      <p:sp>
        <p:nvSpPr>
          <p:cNvPr id="84806472" name="Text 10"/>
          <p:cNvSpPr/>
          <p:nvPr/>
        </p:nvSpPr>
        <p:spPr bwMode="auto">
          <a:xfrm>
            <a:off x="1005840" y="2889504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Data Science predicts what's likely to happen and drives smarter decisions.</a:t>
            </a:r>
            <a:endParaRPr lang="en-US" sz="1500"/>
          </a:p>
        </p:txBody>
      </p:sp>
      <p:sp>
        <p:nvSpPr>
          <p:cNvPr id="1623426088" name="Text 11"/>
          <p:cNvSpPr/>
          <p:nvPr/>
        </p:nvSpPr>
        <p:spPr bwMode="auto">
          <a:xfrm>
            <a:off x="457200" y="378561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000000"/>
                </a:solidFill>
              </a:rPr>
              <a:t>🏆</a:t>
            </a:r>
            <a:endParaRPr lang="en-US" sz="2000"/>
          </a:p>
        </p:txBody>
      </p:sp>
      <p:sp>
        <p:nvSpPr>
          <p:cNvPr id="651825235" name="Text 12"/>
          <p:cNvSpPr/>
          <p:nvPr/>
        </p:nvSpPr>
        <p:spPr bwMode="auto">
          <a:xfrm>
            <a:off x="1005840" y="3785616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Organizations that use data effectively gain a significant competitive advantage.</a:t>
            </a:r>
            <a:endParaRPr lang="en-US" sz="1500"/>
          </a:p>
        </p:txBody>
      </p:sp>
      <p:sp>
        <p:nvSpPr>
          <p:cNvPr id="2106408610" name="Shape 13"/>
          <p:cNvSpPr/>
          <p:nvPr/>
        </p:nvSpPr>
        <p:spPr bwMode="auto">
          <a:xfrm>
            <a:off x="457200" y="4663440"/>
            <a:ext cx="8229600" cy="54864"/>
          </a:xfrm>
          <a:prstGeom prst="rect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977593693" name="Text 14"/>
          <p:cNvSpPr/>
          <p:nvPr/>
        </p:nvSpPr>
        <p:spPr bwMode="auto"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0C4CE"/>
                </a:solidFill>
                <a:latin typeface="Calibri Light"/>
                <a:ea typeface="Calibri Light"/>
                <a:cs typeface="Calibri Light"/>
              </a:rPr>
              <a:t>Introduction to Data Analytics &amp; Data Science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Analytics and Data Science</dc:title>
  <dc:subject>PptxGenJS Presentation</dc:subject>
  <dc:creator>PptxGenJS</dc:creator>
  <cp:lastModifiedBy/>
  <cp:revision>2</cp:revision>
  <dcterms:created xsi:type="dcterms:W3CDTF">2026-06-05T10:51:28Z</dcterms:created>
  <dcterms:modified xsi:type="dcterms:W3CDTF">2026-06-05T10:57:37Z</dcterms:modified>
</cp:coreProperties>
</file>