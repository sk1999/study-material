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iiqkKwXLGTvLCBuXc24avhlYNI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DBD027-B340-4A21-AC96-5EFF379510E6}">
  <a:tblStyle styleId="{B4DBD027-B340-4A21-AC96-5EFF379510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students to Module 2. Introduce yourself. Ask: Who has used Excel before? Set expectations: 70% hands-on, every concept has a real business example.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through the agenda. Reassure beginners that everything will be taught from scratch. Mention that datasets are provided.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1: Introduction to Excel. Introduce this section to students with a brief overview. Interface · Workbook · Data Types</a:t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Excel open on screen. Click around to familiarise students. Mention that even advanced BI tools like Power BI import Excel files.</a:t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students: What industry do you want to work in? Show how Excel connects to their goal.</a:t>
            </a:r>
            <a:endParaRPr/>
          </a:p>
        </p:txBody>
      </p:sp>
      <p:sp>
        <p:nvSpPr>
          <p:cNvPr id="46" name="Google Shape;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Open Excel. Click every element mentioned. Have students identify each component on their own screen.</a:t>
            </a:r>
            <a:endParaRPr/>
          </a:p>
        </p:txBody>
      </p:sp>
      <p:sp>
        <p:nvSpPr>
          <p:cNvPr id="59" name="Google Shape;5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 Ask students to type their name in cell C5. Then type a number in D5. Then add them using = C5+D5 in E5.</a:t>
            </a:r>
            <a:endParaRPr/>
          </a:p>
        </p:txBody>
      </p:sp>
      <p:sp>
        <p:nvSpPr>
          <p:cNvPr id="67" name="Google Shape;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HANDS-ON: Ask students to enter one example of each data type in a blank sheet. Then check alignment to confirm Excel recognised the type.</a:t>
            </a:r>
            <a:endParaRPr/>
          </a:p>
        </p:txBody>
      </p:sp>
      <p:sp>
        <p:nvSpPr>
          <p:cNvPr id="75" name="Google Shape;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2: Excel Basics. Introduce this section to students with a brief overview. Sorting · Filtering · Freeze Panes · Data Validation</a:t>
            </a:r>
            <a:endParaRPr/>
          </a:p>
        </p:txBody>
      </p:sp>
      <p:sp>
        <p:nvSpPr>
          <p:cNvPr id="83" name="Google Shape;8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Open sales_dataset.xlsx. Sort by Revenue descending. Then add a second sort level by Region. Show multi-level sort dialog.</a:t>
            </a:r>
            <a:endParaRPr/>
          </a:p>
        </p:txBody>
      </p:sp>
      <p:sp>
        <p:nvSpPr>
          <p:cNvPr id="93" name="Google Shape;9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HANDS-ON: Students filter sales data for Region = South, then apply a number filter for Revenue &gt; 5000.</a:t>
            </a:r>
            <a:endParaRPr/>
          </a:p>
        </p:txBody>
      </p:sp>
      <p:sp>
        <p:nvSpPr>
          <p:cNvPr id="101" name="Google Shape;10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Import raw employee data. Use Text to Columns to split Name. Then Remove Duplicates on Employee_ID.</a:t>
            </a:r>
            <a:endParaRPr/>
          </a:p>
        </p:txBody>
      </p:sp>
      <p:sp>
        <p:nvSpPr>
          <p:cNvPr id="109" name="Google Shape;10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3: Essential Formulas. Introduce this section to students with a brief overview. SUM · AVERAGE · IF · IFERROR and more</a:t>
            </a:r>
            <a:endParaRPr/>
          </a:p>
        </p:txBody>
      </p:sp>
      <p:sp>
        <p:nvSpPr>
          <p:cNvPr id="117" name="Google Shape;11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TIP: Show AutoSum shortcut Alt+= to quickly insert SUM. Show how SUM ignores text values.</a:t>
            </a:r>
            <a:endParaRPr/>
          </a:p>
        </p:txBody>
      </p:sp>
      <p:sp>
        <p:nvSpPr>
          <p:cNvPr id="127" name="Google Shape;12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difference between AVERAGE (ignores blanks) and SUM/COUNT which treats blanks as zero.</a:t>
            </a:r>
            <a:endParaRPr/>
          </a:p>
        </p:txBody>
      </p:sp>
      <p:sp>
        <p:nvSpPr>
          <p:cNvPr id="144" name="Google Shape;14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IMPORTANT: Teach students to read nested IF from inside-out. Warn about nesting limit (64 levels). Suggest IFS() for many conditions.</a:t>
            </a:r>
            <a:endParaRPr/>
          </a:p>
        </p:txBody>
      </p:sp>
      <p:sp>
        <p:nvSpPr>
          <p:cNvPr id="161" name="Google Shape;1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a dashboard before (with errors) and after (with IFERROR). The professional difference is stark.</a:t>
            </a:r>
            <a:endParaRPr/>
          </a:p>
        </p:txBody>
      </p:sp>
      <p:sp>
        <p:nvSpPr>
          <p:cNvPr id="178" name="Google Shape;17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HANDS-ON: Students apply all 7 functions to the sales dataset. Create a summary table with one formula per row.</a:t>
            </a:r>
            <a:endParaRPr/>
          </a:p>
        </p:txBody>
      </p:sp>
      <p:sp>
        <p:nvSpPr>
          <p:cNvPr id="195" name="Google Shape;19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4: Text Functions. Introduce this section to students with a brief overview. LEFT · RIGHT · MID · TRIM · CONCAT and more</a:t>
            </a:r>
            <a:endParaRPr/>
          </a:p>
        </p:txBody>
      </p:sp>
      <p:sp>
        <p:nvSpPr>
          <p:cNvPr id="203" name="Google Shape;20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Open HR dataset. Use PROPER on Employee_Name. Use LEFT to extract department code. Use TRIM on Location.</a:t>
            </a:r>
            <a:endParaRPr/>
          </a:p>
        </p:txBody>
      </p:sp>
      <p:sp>
        <p:nvSpPr>
          <p:cNvPr id="213" name="Google Shape;21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CHALLENGE: Given raw employee data with messy names, emails, and IDs — clean and standardize using text functions in 10 minutes.</a:t>
            </a:r>
            <a:endParaRPr/>
          </a:p>
        </p:txBody>
      </p:sp>
      <p:sp>
        <p:nvSpPr>
          <p:cNvPr id="226" name="Google Shape;22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5: Date Functions. Introduce this section to students with a brief overview. TODAY · DATEDIF · EOMONTH · HR Use Cases</a:t>
            </a:r>
            <a:endParaRPr/>
          </a:p>
        </p:txBody>
      </p:sp>
      <p:sp>
        <p:nvSpPr>
          <p:cNvPr id="234" name="Google Shape;23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Open HR dataset. Calculate Experience using DATEDIF(Joining_Date, TODAY(), 'Y'). Show how it auto-updates daily.</a:t>
            </a:r>
            <a:endParaRPr/>
          </a:p>
        </p:txBody>
      </p:sp>
      <p:sp>
        <p:nvSpPr>
          <p:cNvPr id="244" name="Google Shape;24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6: Lookup Functions. Introduce this section to students with a brief overview. VLOOKUP · INDEX-MATCH · XLOOKUP</a:t>
            </a:r>
            <a:endParaRPr/>
          </a:p>
        </p:txBody>
      </p:sp>
      <p:sp>
        <p:nvSpPr>
          <p:cNvPr id="252" name="Google Shape;25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VLOOKUP LIMITATIONS: (1) Only looks RIGHT — cannot retrieve columns to the left. (2) Breaks if columns are inserted. (3) Slow on very large datasets.</a:t>
            </a:r>
            <a:endParaRPr/>
          </a:p>
        </p:txBody>
      </p:sp>
      <p:sp>
        <p:nvSpPr>
          <p:cNvPr id="262" name="Google Shape;26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XLOOKUP looking LEFT — something VLOOKUP cannot do. Also show the search_mode argument for reverse search.</a:t>
            </a:r>
            <a:endParaRPr/>
          </a:p>
        </p:txBody>
      </p:sp>
      <p:sp>
        <p:nvSpPr>
          <p:cNvPr id="279" name="Google Shape;279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Show a side-by-side comparison of VLOOKUP vs INDEX-MATCH solving the same problem. Then break VLOOKUP by inserting a column.</a:t>
            </a:r>
            <a:endParaRPr/>
          </a:p>
        </p:txBody>
      </p:sp>
      <p:sp>
        <p:nvSpPr>
          <p:cNvPr id="296" name="Google Shape;29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TAKEAWAY: Use XLOOKUP if you have Office 365. Use INDEX-MATCH as the universal fallback for all Excel versions.</a:t>
            </a:r>
            <a:endParaRPr/>
          </a:p>
        </p:txBody>
      </p:sp>
      <p:sp>
        <p:nvSpPr>
          <p:cNvPr id="309" name="Google Shape;30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7: Data Cleaning. Introduce this section to students with a brief overview. Missing Values · Duplicates · Standardization</a:t>
            </a:r>
            <a:endParaRPr/>
          </a:p>
        </p:txBody>
      </p:sp>
      <p:sp>
        <p:nvSpPr>
          <p:cNvPr id="317" name="Google Shape;31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SHOW: Before/After comparison of a dirty vs clean dataset. Ask students to identify all issues in the 'before' version.</a:t>
            </a:r>
            <a:endParaRPr/>
          </a:p>
        </p:txBody>
      </p:sp>
      <p:sp>
        <p:nvSpPr>
          <p:cNvPr id="327" name="Google Shape;327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HANDS-ON: Give students the intentionally dirty version of the HR dataset. They must clean it using the techniques above in 20 minutes.</a:t>
            </a:r>
            <a:endParaRPr/>
          </a:p>
        </p:txBody>
      </p:sp>
      <p:sp>
        <p:nvSpPr>
          <p:cNvPr id="335" name="Google Shape;335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8: Conditional Formatting. Introduce this section to students with a brief overview. Visual Analysis Without Charts</a:t>
            </a:r>
            <a:endParaRPr/>
          </a:p>
        </p:txBody>
      </p:sp>
      <p:sp>
        <p:nvSpPr>
          <p:cNvPr id="343" name="Google Shape;343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Apply a 3-color scale to the Revenue column. Apply icon sets to Performance_Rating in HR dataset. Create a formula rule to highlight an entire row.</a:t>
            </a:r>
            <a:endParaRPr/>
          </a:p>
        </p:txBody>
      </p:sp>
      <p:sp>
        <p:nvSpPr>
          <p:cNvPr id="353" name="Google Shape;353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9: Pivot Tables. Introduce this section to students with a brief overview. Dynamic Summarisation at Speed</a:t>
            </a:r>
            <a:endParaRPr/>
          </a:p>
        </p:txBody>
      </p:sp>
      <p:sp>
        <p:nvSpPr>
          <p:cNvPr id="361" name="Google Shape;361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(20 min): Use sales_dataset. Build a Pivot Table showing Total Revenue by Region. Then add Product_Category as columns. Then filter to 2024 only.</a:t>
            </a:r>
            <a:endParaRPr/>
          </a:p>
        </p:txBody>
      </p:sp>
      <p:sp>
        <p:nvSpPr>
          <p:cNvPr id="371" name="Google Shape;371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DEMO: Cycle through each Value Field Setting on the same Revenue data so students see how dramatically the view changes.</a:t>
            </a:r>
            <a:endParaRPr/>
          </a:p>
        </p:txBody>
      </p:sp>
      <p:sp>
        <p:nvSpPr>
          <p:cNvPr id="379" name="Google Shape;379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10: Pivot Charts. Introduce this section to students with a brief overview. Visualise Your Pivot Data</a:t>
            </a:r>
            <a:endParaRPr/>
          </a:p>
        </p:txBody>
      </p:sp>
      <p:sp>
        <p:nvSpPr>
          <p:cNvPr id="387" name="Google Shape;387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HANDS-ON: From the Pivot Table built in Section 9, create: (1) Column chart for Revenue by Region, (2) Line chart for Monthly trend, (3) Pie chart for Category mix.</a:t>
            </a:r>
            <a:endParaRPr/>
          </a:p>
        </p:txBody>
      </p:sp>
      <p:sp>
        <p:nvSpPr>
          <p:cNvPr id="397" name="Google Shape;397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11: Excel Dashboards. Introduce this section to students with a brief overview. Interactive Reports with KPIs &amp; Slicers</a:t>
            </a:r>
            <a:endParaRPr/>
          </a:p>
        </p:txBody>
      </p:sp>
      <p:sp>
        <p:nvSpPr>
          <p:cNvPr id="405" name="Google Shape;405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SHOW: A professional Excel dashboard vs a messy report. Discuss what makes the difference. Students vote on which is more trustworthy.</a:t>
            </a:r>
            <a:endParaRPr/>
          </a:p>
        </p:txBody>
      </p:sp>
      <p:sp>
        <p:nvSpPr>
          <p:cNvPr id="415" name="Google Shape;41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SHOW: This is what your KPI row should look like. Each card has: metric name, big number, context/comparison. Build these using shapes + GETPIVOTDATA formulas.</a:t>
            </a:r>
            <a:endParaRPr/>
          </a:p>
        </p:txBody>
      </p:sp>
      <p:sp>
        <p:nvSpPr>
          <p:cNvPr id="423" name="Google Shape;423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12: Mini Project: Sales Performance Dashboard. Introduce this section to students with a brief overview. Step-by-Step Build</a:t>
            </a:r>
            <a:endParaRPr/>
          </a:p>
        </p:txBody>
      </p:sp>
      <p:sp>
        <p:nvSpPr>
          <p:cNvPr id="450" name="Google Shape;450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TRAINER NOTE: Walk through each step live. Give students 5 minutes per step. Help students who fall behind in groups.</a:t>
            </a:r>
            <a:endParaRPr/>
          </a:p>
        </p:txBody>
      </p:sp>
      <p:sp>
        <p:nvSpPr>
          <p:cNvPr id="460" name="Google Shape;460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13: HR Dashboard. Introduce this section to students with a brief overview. Workforce Analytics in Excel</a:t>
            </a:r>
            <a:endParaRPr/>
          </a:p>
        </p:txBody>
      </p:sp>
      <p:sp>
        <p:nvSpPr>
          <p:cNvPr id="468" name="Google Shape;468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 TO HIGHLIGHT: Attrition Rate = Employees who left / Total employees × 100. Benchmark: &gt;15% is high risk.</a:t>
            </a:r>
            <a:endParaRPr/>
          </a:p>
        </p:txBody>
      </p:sp>
      <p:sp>
        <p:nvSpPr>
          <p:cNvPr id="478" name="Google Shape;478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15: End of Module Assignment. Introduce this section to students with a brief overview. Apply Everything You've Learned</a:t>
            </a:r>
            <a:endParaRPr/>
          </a:p>
        </p:txBody>
      </p:sp>
      <p:sp>
        <p:nvSpPr>
          <p:cNvPr id="486" name="Google Shape;486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 the assignment brief handout. Answer clarifying questions. Remind students to save frequently and keep a backup.</a:t>
            </a:r>
            <a:endParaRPr/>
          </a:p>
        </p:txBody>
      </p:sp>
      <p:sp>
        <p:nvSpPr>
          <p:cNvPr id="496" name="Google Shape;496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students. Take a class photo. Remind them of assignment deadline. Share WhatsApp group or LMS link for doubts.</a:t>
            </a:r>
            <a:endParaRPr/>
          </a:p>
        </p:txBody>
      </p:sp>
      <p:sp>
        <p:nvSpPr>
          <p:cNvPr id="504" name="Google Shape;504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0" y="0"/>
            <a:ext cx="3657600" cy="3657600"/>
          </a:xfrm>
          <a:prstGeom prst="ellipse">
            <a:avLst/>
          </a:prstGeom>
          <a:solidFill>
            <a:srgbClr val="1A7A4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2400300"/>
            <a:ext cx="2743200" cy="2743200"/>
          </a:xfrm>
          <a:prstGeom prst="ellipse">
            <a:avLst/>
          </a:prstGeom>
          <a:solidFill>
            <a:srgbClr val="00C85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40080" y="137160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Excel for Data Analysis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Corporate Training Program  |  70% Practical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Will Learn – Full Agenda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1: Introduction to Excel – Interface, Workbooks, Data Types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2: Excel Basics – Sorting, Filtering, Freeze Panes, Data Validation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3: Essential Formulas – SUM, AVERAGE, IF, IFERROR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4: Text Functions – LEFT, RIGHT, MID, TRIM, CONCAT </a:t>
            </a:r>
            <a:endParaRPr sz="150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5: Date Functions – TODAY,NOW,WEEKDAY, EOMONTH and WORKDAY examples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6: Lookup Functions – VLOOKUP, INDEX-</a:t>
            </a: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, XLOOKUP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7: Data Cleaning – Missing Values, Duplicates, Standardization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8: Conditional Formatting – Rules, Color Scales, Icon Sets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9 &amp; 10: Pivot Tables &amp; Charts – Interactive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11–13: Dashboards – Sales &amp; HR Dashboard Build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Section 14: Final Assignment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858000" y="2836718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Excel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Interface · Workbook · Data Types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Microsoft Excel?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Excel is a spreadsheet application by Microsoft — industry standard since 1987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Used in Finance, HR, Marketing, Operations, Supply Chain, and Data Analytics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Organises data in rows and columns — like a digital grid or ledger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Enables calculations, visualisations, and automated reporting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According to LinkedIn, Excel appears in 70%+ of analytics job descriptions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Free alternative: Google Sheets (same concepts, cloud-based)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Excel is Used in Analytics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0292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Data Professionals Use Excel For: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Cleaning messy raw data before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Quick exploratory data analysis (EDA)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Building financial models and forecasts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Creating interactive dashboards for leadership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VLOOKUP / XLOOKUP data merging across tables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Communicating insights with charts and KPIs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75488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EFF8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89204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Industries That Rely on Excel: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Banking &amp; Finance – P&amp;L, budgets, valuations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HR – Payroll, attrition analysis, org charts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Retail &amp; E-commerce – Sales tracking, inventory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Healthcare – Patient data, resource planning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Marketing – Campaign ROI, lead tracking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Logistics – Route optimisation, delivery KPIs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Interface – Key Components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Title Bar – Shows filename and save status (AutoSave indicator)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Ribbon – Tabs: Home, Insert, Page Layout, Formulas, Data, Review, View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Name Box – Shows current cell address (e.g., A1, B5)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Formula Bar – Shows and edits the content/formula of the active cell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Worksheet Area – The main grid where data lives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Sheet Tabs – Switch between sheets; right-click to rename, colour, copy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Status Bar – Shows Sum, Count, Average of selected cells at the bottom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Quick Access Toolbar – Pin Save, Undo, Redo for fast access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Workbook vs Worksheet vs Cell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Workbook = the entire Excel file (.xlsx) – like a physical binder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Worksheet = individual tab/sheet inside a workbook – like pages in the binder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Cell = the intersection of a row and column (e.g., B3 = column B, row 3)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Row = horizontal group of cells numbered 1, 2, 3… (max: 1,048,576 rows)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Column = vertical group of cells labelled A, B, C… (max: 16,384 columns)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Range = a group of cells selected together (e.g., A1:D10 = 40 cells)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Cell Reference = address of a cell used in formulas (A1, $A$1, $A1, A$1)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Tip: Press Ctrl+End to jump to the last used cell in the sheet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Data Types – The Foundation of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8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{B4DBD027-B340-4A21-AC96-5EFF379510E6}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Values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 Alignment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Common Issues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1000, 3.14, -500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Stored as text (left-aligned)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Text/String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John, Mumbai, Product 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 spaces, inconsistent case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01-Jan-2024, 2024-01-01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Dates stored as numbers (serial)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09:30 AM, 14:45:00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 date-time in one cell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/ FALSE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Centered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Confusion with 1/0 values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=SUM(A1:A10)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Circular references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#REF!, #N/A, #DIV/0!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Right-aligned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Broken references or logic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6858000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Excel Basics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Sorting · Filtering · Freeze Panes · Data Validation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Sorting Data – Organise for Insight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Sorting organises rows by one or more column values — ascending or descending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Single Column Sort: Click any cell in the column → Data tab → Sort A to Z / Z to 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Multi-Level Sort: Data → Sort → Add Level → choose column and order for each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Custom Sort Order: Sort months in calendar order, not alphabetically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Sort by Colour: Useful after applying Conditional Formatting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Always select the FULL data range — partial sorts misalign rows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Check 'My data has headers' checkbox to protect column labels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Use: Sort sales reps by Revenue descending to find top performers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Filtering Data – Find What Matters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Filtering temporarily hides rows that don't match your criteria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Enable: Home → Sort &amp; Filter → Filter  OR  Ctrl + Shift + 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Filter by value: Click dropdown → uncheck/check individual values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Number Filter: Greater than, Top 10, Above Average — great for KPI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Text Filter: Contains, Begins With, Does Not Contain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Date Filter: This Month, Last Quarter, Between two dates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Advanced Filter: Filter to another location, use criteria range for complex logic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Tip: Use Ctrl+Shift+L to toggle AutoFilter on and off quickly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Business Use: Filter Region = 'North' AND Product = 'Electronics' to see regional performance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Freeze Panes, Text to Columns &amp; Remove Duplicates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FREEZE PANES – Keep headers visible while scrolling large datasets: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View → Freeze Panes → Freeze Top Row  (freezes row 1)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View → Freeze Panes → Freeze First Column (freezes column A)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Click cell B2 → Freeze Panes → Freeze Panes (freezes everything above and left)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TEXT TO COLUMNS – Split one column into multiple columns: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→ Text to Columns → Delimited (comma/space/tab) or Fixed Width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Use Case: Split 'First Last' into First Name / Last Name columns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REMOVE DUPLICATES – Clean up repeated records: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→ Remove Duplicates → Select columns to check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Always duplicate the data first — this action cannot be undone easily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Validation: Data → Data Validation → restrict input to a list or number range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/>
          <p:nvPr/>
        </p:nvSpPr>
        <p:spPr>
          <a:xfrm>
            <a:off x="217517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6767945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Essential Formulas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SUM · AVERAGE · IF · IFERROR and more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SUM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=SUM(number1, [number2], ...) or =SUM(A1:A100)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Adds all numeric values in the specified range or list. Ignores text and blank cells automatically. Works across multiple non-contiguous ranges.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=SUM(D2:D5001) adds up all 5,000 revenue values in the sales dataset to get Total Revenue for the period.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Open sales_dataset.xlsx. In cell I5003, type: =SUM(I2:I5001) to calculate total Profit. Format as currency.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AVERAGE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=AVERAGE(number1, [number2], ...)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Calculates the arithmetic mean of numeric values. Ignores blank cells and text. Use AVERAGEIF or AVERAGEIFS to average with conditions.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=AVERAGE(H2:H5001) gives the average unit price across all 5,000 sales orders — useful for pricing analysis.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In the HR dataset: =AVERAGE(H2:H3001) to find the average salary. Compare this with =AVERAGEIF(C2:C3001,'Finance',H2:H3001) for the Finance department.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IF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=IF(logical_test, value_if_true, value_if_false)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Tests a condition and returns one value if TRUE and another if FALSE. Can be nested for multiple conditions. The cornerstone of decision logic in Excel.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=IF(L2&gt;0, 'Profitable', 'Loss') — classifies each sales order as 'Profitable' or 'Loss' based on the Profit column. Add to column 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In HR dataset: =IF(J2&gt;=4, 'High Performer', IF(J2&gt;=3, 'Average', 'Needs Improvement')) to categorise employees by performance rating.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IFERROR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=IFERROR(value, value_if_error)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Returns a custom value instead of an error message when a formula fails. Essential for professional dashboards — never show #N/A or #DIV/0! to users.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=IFERROR(VLOOKUP(A2, Products!A:C, 3, 0), 'Product Not Found') — instead of showing #N/A when a product code doesn't match, displays a friendly message.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Wrap your VLOOKUP formulas in IFERROR. Test with a product code that doesn't exist in the lookup table and see the difference.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 Quick Reference – COUNT, MIN, MAX, ROUND, COUNTA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18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{B4DBD027-B340-4A21-AC96-5EFF379510E6}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Example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=COUNT(A1:A100)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Counts numeric cells only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orders with revenue entered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=COUNTA(A1:A100)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Counts all non-empty cells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all customers in list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=MIN(A1:A100)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the smallest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Lowest sale in the 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=MAX(A1:A100)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 the largest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revenue order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=ROUND(A1, 2)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Rounds to N decimal places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 prices to 2 decimals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SUMIF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=SUMIF(range,criteria,sum)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 if condition is met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revenue for 'North' region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COUNTIF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=COUNTIF(range,criteria)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if condition is met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orders from 'Mumbai'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134389" y="18288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858000" y="2646218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Text Functions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LEFT · RIGHT · MID · TRIM · CONCAT and more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Functions – Extract &amp; Transform Text Data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6576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0292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Extraction Functions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LEFT(text, n): Extract first n characters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LEFT('INV-2024-001', 3) → 'INV'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RIGHT(text, n): Extract last n characters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RIGHT('EMP001', 3) → '001'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MID(text, start, n): Extract from middle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MID('INV-2024-001', 5, 4) → '2024'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LEN(text): Count characters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LEN('Analytics') → 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FIND/SEARCH: Find position of character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FIND('-', 'INV-2024') → 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75488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EFF8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89204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Cleaning &amp; Joining Functions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TRIM(text): Remove extra spaces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TRIM('  John  ') → 'John'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UPPER(text): Convert to UPPERCASE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UPPER('mumbai') → 'MUMBAI'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LOWER(text): Convert to lowercase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LOWER('DELHI') → 'delhi'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PROPER(text): Title Case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PROPER('john smith') → 'John Smith'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CONCAT(t1,t2,...): Join text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CONCAT(A2,' ',B2) → 'John Smith'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TEXTJOIN(delim,ignore,range): Join with separator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Ex: TEXTJOIN(', ',TRUE,A2:A5)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Functions – Real-World Data Cleaning Scenarios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EMAIL EXTRACTION: =LEFT(A2, FIND('@', A2)-1) → Extract username from email address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ID PARSING: Employee ID 'EMP-2024-001' → Extract year: =MID(A2, 5, 4)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ADDRESS SPLIT: City, State in one column → Use Text to Columns or FIND+MID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STANDARDIZE NAMES: Mix of JOHN, john, John → Use PROPER to normalize all to Title Case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REMOVE EXTRA SPACES: Data imported from systems often has hidden spaces → TRIM fixes this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COMBINE FIELDS: First + Last Name → =CONCAT(B2, ' ', C2) or =B2&amp;' '&amp;C2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CODE EXTRACTION: Product code 'PRD-ELEC-001' → Category: =MID(A2, 5, 4) → 'ELEC'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Tip: SUBSTITUTE replaces specific text: =SUBSTITUTE(A2,'Ltd','Limited')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03662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6788728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Date Functions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TODAY · DATEDIF · EOMONTH · HR Use Cases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 Functions – Essential for HR &amp; Finance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23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{B4DBD027-B340-4A21-AC96-5EFF379510E6}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 / Business Example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=TODAY()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date (dynamic)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calculation, days since joining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NOW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=NOW()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 date AND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 for data entry logs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=YEAR(date)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number (e.g., 2024)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employees by joining year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=MONTH(date)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 number (1–12)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 attrition trend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=DAY(date)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of month (1–31)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payday or deadline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DATEDIF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=DATEDIF(start,end,'Y'/'M'/'D')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Difference in Years/Months/Days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Years of Experience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EOMONTH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=EOMONTH(date, 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 day of the month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 cutoff, month-end reports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WORKDAY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=WORKDAY(start, days)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N working days away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deadline calculation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NETWORKDAYS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=NETWORKDAYS(start,end)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Working days between dates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SLA breach analysis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83127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6691745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Lookup Functions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VLOOKUP · INDEX-MATCH · XLOOKUP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VLOOKUP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=VLOOKUP(lookup_value, table_array, col_index_num, [range_lookup])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Searches for a value in the FIRST column of a table and returns a value from a specified column to the RIGHT. range_lookup: FALSE for exact match (most common), TRUE for approximate.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=VLOOKUP(A2, Products!A:C, 3, FALSE) — looks up a Product ID from column A in the Products sheet and returns the Price from column 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Using sales_dataset: Add a 'Category Code' column. Create a lookup table on Sheet2 with Category and Code. Use VLOOKUP to pull codes into the main sheet.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FUNCTION: XLOOKUP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fmla="val 10000" name="adj"/>
            </a:avLst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02920" y="822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00C853"/>
                </a:solidFill>
                <a:latin typeface="Courier New"/>
                <a:ea typeface="Courier New"/>
                <a:cs typeface="Courier New"/>
                <a:sym typeface="Courier New"/>
              </a:rPr>
              <a:t>Syntax: =XLOOKUP(lookup_value, lookup_array, return_array, [if_not_found], [match_mode], [search_mode])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365760" y="15087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📘 Explanation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Modern replacement for VLOOKUP (Excel 365/2019+). Can look left AND right, returns a range instead of column index, handles errors natively, supports wildcard matching.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36576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💼 Business Example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0292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=XLOOKUP(A2, Products!A:A, Products!C:C, 'Not Found') — same as VLOOKUP above but simpler, no column number needed, handles errors with 4th argument.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4663440" y="2606040"/>
            <a:ext cx="4114800" cy="1234440"/>
          </a:xfrm>
          <a:prstGeom prst="roundRect">
            <a:avLst>
              <a:gd fmla="val 5185" name="adj"/>
            </a:avLst>
          </a:prstGeom>
          <a:solidFill>
            <a:srgbClr val="FFF9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4800600" y="2651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F0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6F00"/>
                </a:solidFill>
                <a:latin typeface="Calibri"/>
                <a:ea typeface="Calibri"/>
                <a:cs typeface="Calibri"/>
                <a:sym typeface="Calibri"/>
              </a:rPr>
              <a:t>✏️ Practice Exercise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4800600" y="297180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Rewrite your VLOOKUP from the previous exercise using XLOOKUP. Notice: no col_index needed, 'Not Found' replaces IFERROR wrapper, and you can look left!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 + MATCH – The Power Combo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36576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50292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How INDEX Works: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0292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=INDEX(array, row_num, [col_num])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Returns the value at a specific row/column position in a range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Ex: =INDEX(B2:B100, 5) → returns value in 5th row of B2:B100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Think of INDEX as a GPS: 'Give me what is at this address'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4754880" y="822960"/>
            <a:ext cx="4023360" cy="4114800"/>
          </a:xfrm>
          <a:prstGeom prst="roundRect">
            <a:avLst>
              <a:gd fmla="val 1818" name="adj"/>
            </a:avLst>
          </a:prstGeom>
          <a:solidFill>
            <a:srgbClr val="EFF8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4892040" y="89611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How MATCH Works: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4892040" y="1325880"/>
            <a:ext cx="37490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=MATCH(lookup_value, lookup_array, [match_type])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Returns the POSITION (row number) of a value in a range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Ex: =MATCH('Mumbai', C2:C100, 0) → returns 7 if Mumbai is in row 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Combined: =INDEX(D2:D100, MATCH('EMP001', A2:A100, 0))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This finds the Salary for EMP001 — works in ANY direction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C1C1C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Advantage over VLOOKUP: works left, never breaks on column inserts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VLOOKUP vs XLOOKUP vs INDEX-MATCH – Comparison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" name="Google Shape;313;p28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{B4DBD027-B340-4A21-AC96-5EFF379510E6}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VLOOKUP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XLOOKUP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+ MATCH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only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direction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direction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 reference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(fragile)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Array reference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Array reference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handling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IFERROR wrap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Built-in argument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IFERROR wrap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 version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versions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Office 365 / 2019+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versions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returns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return a range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value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Ease of learning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 once learnt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/>
          <p:nvPr/>
        </p:nvSpPr>
        <p:spPr>
          <a:xfrm>
            <a:off x="107817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6750183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Cleaning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Missing Values · Duplicates · Standardization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0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– Why It Matters (The 80/20 Rule)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analysts spend 70–80% of their time cleaning data before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Dirty data leads to wrong insights → wrong business decisions → financial loss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Common Data Quality Issues in Real-World Excel Files: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Missing Values: Blank cells, 'N/A', 'NULL', 0 used for unknown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Duplicates: Same record entered twice (by different systems or humans)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Inconsistent Text: 'Mumbai' vs 'mumbai' vs 'MUMBAI' vs 'Mumabi' (typo)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Wrong Data Types: Dates stored as text, numbers stored as text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Extra Spaces: Leading/trailing spaces causing VLOOKUP failures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Outliers: Revenue of 10,000,000 when normal range is 100–50,000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Cleaning Checklist: Profile → Identify → Fix → Validate → Document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 Techniques – Step by Step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FIND &amp; REPLACE BLANKS: Ctrl+H → Find blank, Replace with 'Unknown' or 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GO TO SPECIAL: Ctrl+G → Special → Blanks → highlights all empty cells in range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FILTER BLANKS: Click column filter → uncheck everything, check (Blanks) only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TRIM + CLEAN: =TRIM(CLEAN(A2)) removes spaces AND non-printable characters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REMOVE DUPLICATES: Data → Remove Duplicates → select key columns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FLASH FILL (Ctrl+E): Excel guesses the pattern from first 2 examples → auto-fills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TEXT TO COLUMNS: Splits delimited data (comma, space, pipe separated values)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FIND INCONSISTENCIES: =COUNTIF(A:A, A2)&gt;1 → flags duplicate values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TYPE CONVERSION: VALUE() converts text-numbers to real numbers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DATEVALUE(): Converts text dates ('01-Jan-2024') to real date serial numbers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/>
          <p:nvPr/>
        </p:nvSpPr>
        <p:spPr>
          <a:xfrm>
            <a:off x="53227" y="176056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6707875" y="28575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Conditional Formatting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Visual Analysis Without Charts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Conditional Formatting – Visualise Data Instantly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Conditional Formatting applies formatting (colour, font, icon) based on rules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Highlight Cell Rules: Greater Than, Less Than, Between, Equal To, Duplicate Values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Home → Conditional Formatting → Highlight Cell Rules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Use Case: Highlight all orders with Profit &lt; 0 in red (Loss orders)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Data Bars: Adds a mini bar chart inside each cell proportional to its value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Use Case: Quick visual comparison of Revenue across rows without a chart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Color Scales: 2-colour or 3-colour gradient (Green-Yellow-Red like a heatmap)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Use Case: Performance rating heatmap — high scores green, low scores red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Icon Sets: Arrows (up/down/neutral), Traffic lights, Stars, Flags, Check marks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Use Case: Sales target achievement — green checkmark if &gt;100%, red X if &lt;80%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Formula-Based Rules: Apply any custom logic using a formula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Ex: =AND(A2='North', B2&gt;10000) → highlight only North region high-value orders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/>
          <p:nvPr/>
        </p:nvSpPr>
        <p:spPr>
          <a:xfrm>
            <a:off x="78971" y="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6779029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Pivot Tables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Dynamic Summarisation at Speed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 Tables – The Most Powerful Excel Feature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 Pivot Table summarises large datasets with drag-and-drop — no formulas needed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CREATE: Select data → Insert → PivotTable → choose location (new or existing sheet)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FIELD LIST has 4 zones: Filters | Columns | Rows | Values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Rows: Drag 'Region' here → one row per region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Values: Drag 'Revenue' here → shows SUM of Revenue per region by default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Columns: Drag 'Quarter' here → creates a crosstab (matrix) view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Filters: Drag 'Product_Category' here → add a dropdown filter at the top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RIGHT-CLICK on a value → Value Field Settings → change SUM to AVERAGE, COUNT, MAX, etc.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GROUPING: Right-click a Date field → Group → by Month, Quarter, Year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SHOW VALUES AS: % of Grand Total, % of Row Total, Running Total, Rank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Keyboard Shortcut: Alt + N + V → Insert PivotTable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Always Refresh after adding data: Right-click → Refresh  OR  Alt+F5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 Table – Value Field Settings Reference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36"/>
          <p:cNvGraphicFramePr/>
          <p:nvPr/>
        </p:nvGraphicFramePr>
        <p:xfrm>
          <a:off x="45720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{B4DBD027-B340-4A21-AC96-5EFF379510E6}</a:tableStyleId>
              </a:tblPr>
              <a:tblGrid>
                <a:gridCol w="2743200"/>
                <a:gridCol w="2743200"/>
                <a:gridCol w="27432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Aggregation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to Use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Example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7A4A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 totals (default)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Revenue by Region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of records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orders per Salesperson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performance metric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Order Value by Category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/ 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/ Worst performer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single sale in each Region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Grand Total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 share view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region's % of total company revenue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Row Total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composition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mix within each region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Running Total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Cumulative trend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Cumulative Monthly Revenue (YTD)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Smallest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Competitive ranking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C1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C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salespeople by performance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DF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/>
          <p:nvPr/>
        </p:nvSpPr>
        <p:spPr>
          <a:xfrm>
            <a:off x="58189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7"/>
          <p:cNvSpPr/>
          <p:nvPr/>
        </p:nvSpPr>
        <p:spPr>
          <a:xfrm>
            <a:off x="6799811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Pivot Charts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7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Visualise Your Pivot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 Charts – Interactive Visualisations Linked to Pivot Tables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 Pivot Chart is a chart directly connected to a Pivot Table — they update together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CREATE: Click inside PivotTable → PivotTable Analyze → PivotChart → Choose chart type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Column / Bar Chart: Best for comparing categories (Revenue by Region, Sales by Product)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Line Chart: Best for trends over time (Monthly Revenue Trend, Weekly Order Volume)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Pie / Doughnut Chart: Best for showing parts of a whole (Market Share, Category Mix)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Combo Chart: Line + Bar together — e.g., Revenue (bar) + Profit Margin % (line)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Chart Interpretation Tips: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Always label axes with units (₹ thousands, %, number of orders)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Add data labels to small charts so readers don't have to estimate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Use consistent colours across all charts in a 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• Title should describe the insight, not just the data: 'North Leads Revenue by 34%'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Avoid: 3D charts (distort perception), Pie charts with &gt;5 slices, Rainbow colour schemes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6858000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9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9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Excel Dashboards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Interactive Reports with KPIs &amp; Slicers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0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Design Principles – Before You Build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0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 dashboard is a single-screen view of the most important business metrics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LAYOUT PRINCIPLE: Follow the F-pattern — most important info top-left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Row 1: KPI Cards (Total Revenue, Total Orders, Avg Order Value, Profit Margin)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Row 2: Charts (Bar for comparison, Line for trend)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Row 3: Tables, details, or secondary charts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COLOUR PRINCIPLE: Use ONE brand colour, one accent for highlights, grey for support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Green = positive/good, Red = negative/alert, Grey = neutral/context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TEXT PRINCIPLE: Dashboard title → Section headers → Data labels → Footnotes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WHITESPACE: Don't crowd every pixel. Empty space is not wasted space.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SLICERS: Interactive filter buttons (Insert → Slicer) linked to multiple Pivot Tables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TIMELINE: Insert → Timeline for date-based filtering (requires date column in Pivot)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BEST PRACTICES: No gridlines, no row numbers, use camera tool for live snapshots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1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Dashboard – KPI Card Layout (Reference)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457200" y="841248"/>
            <a:ext cx="1965960" cy="4005072"/>
          </a:xfrm>
          <a:prstGeom prst="roundRect">
            <a:avLst>
              <a:gd fmla="val 4651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"/>
          <p:cNvSpPr/>
          <p:nvPr/>
        </p:nvSpPr>
        <p:spPr>
          <a:xfrm>
            <a:off x="457200" y="841248"/>
            <a:ext cx="1965960" cy="16459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1"/>
          <p:cNvSpPr/>
          <p:nvPr/>
        </p:nvSpPr>
        <p:spPr>
          <a:xfrm>
            <a:off x="502920" y="1417320"/>
            <a:ext cx="1874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A7A4A"/>
                </a:solidFill>
                <a:latin typeface="Cambria"/>
                <a:ea typeface="Cambria"/>
                <a:cs typeface="Cambria"/>
                <a:sym typeface="Cambria"/>
              </a:rPr>
              <a:t>₹4.2M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1"/>
          <p:cNvSpPr/>
          <p:nvPr/>
        </p:nvSpPr>
        <p:spPr>
          <a:xfrm>
            <a:off x="502920" y="256032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1"/>
          <p:cNvSpPr/>
          <p:nvPr/>
        </p:nvSpPr>
        <p:spPr>
          <a:xfrm>
            <a:off x="502920" y="315468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+12% vs Last Year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1"/>
          <p:cNvSpPr/>
          <p:nvPr/>
        </p:nvSpPr>
        <p:spPr>
          <a:xfrm>
            <a:off x="2532888" y="841248"/>
            <a:ext cx="1965960" cy="4005072"/>
          </a:xfrm>
          <a:prstGeom prst="roundRect">
            <a:avLst>
              <a:gd fmla="val 4651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/>
          <p:nvPr/>
        </p:nvSpPr>
        <p:spPr>
          <a:xfrm>
            <a:off x="2532888" y="841248"/>
            <a:ext cx="1965960" cy="1645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2578608" y="1417320"/>
            <a:ext cx="1874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565C0"/>
                </a:solidFill>
                <a:latin typeface="Cambria"/>
                <a:ea typeface="Cambria"/>
                <a:cs typeface="Cambria"/>
                <a:sym typeface="Cambria"/>
              </a:rPr>
              <a:t>5,000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2578608" y="256032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Total Orders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2578608" y="315468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Across 4 Regions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4608576" y="841248"/>
            <a:ext cx="1965960" cy="4005072"/>
          </a:xfrm>
          <a:prstGeom prst="roundRect">
            <a:avLst>
              <a:gd fmla="val 4651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1"/>
          <p:cNvSpPr/>
          <p:nvPr/>
        </p:nvSpPr>
        <p:spPr>
          <a:xfrm>
            <a:off x="4608576" y="841248"/>
            <a:ext cx="1965960" cy="16459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1"/>
          <p:cNvSpPr/>
          <p:nvPr/>
        </p:nvSpPr>
        <p:spPr>
          <a:xfrm>
            <a:off x="4654296" y="1417320"/>
            <a:ext cx="1874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6A1B9A"/>
                </a:solidFill>
                <a:latin typeface="Cambria"/>
                <a:ea typeface="Cambria"/>
                <a:cs typeface="Cambria"/>
                <a:sym typeface="Cambria"/>
              </a:rPr>
              <a:t>₹840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4654296" y="256032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Avg Order Value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4654296" y="315468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Target: ₹900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1"/>
          <p:cNvSpPr/>
          <p:nvPr/>
        </p:nvSpPr>
        <p:spPr>
          <a:xfrm>
            <a:off x="6684264" y="841248"/>
            <a:ext cx="1965960" cy="4005072"/>
          </a:xfrm>
          <a:prstGeom prst="roundRect">
            <a:avLst>
              <a:gd fmla="val 4651" name="adj"/>
            </a:avLst>
          </a:prstGeom>
          <a:solidFill>
            <a:srgbClr val="F0FA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1"/>
          <p:cNvSpPr/>
          <p:nvPr/>
        </p:nvSpPr>
        <p:spPr>
          <a:xfrm>
            <a:off x="6684264" y="841248"/>
            <a:ext cx="1965960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1"/>
          <p:cNvSpPr/>
          <p:nvPr/>
        </p:nvSpPr>
        <p:spPr>
          <a:xfrm>
            <a:off x="6729984" y="1417320"/>
            <a:ext cx="1874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B71C1C"/>
                </a:solidFill>
                <a:latin typeface="Cambria"/>
                <a:ea typeface="Cambria"/>
                <a:cs typeface="Cambria"/>
                <a:sym typeface="Cambria"/>
              </a:rPr>
              <a:t>23.4%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6729984" y="256032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Profit Margin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1"/>
          <p:cNvSpPr/>
          <p:nvPr/>
        </p:nvSpPr>
        <p:spPr>
          <a:xfrm>
            <a:off x="6729984" y="3154680"/>
            <a:ext cx="1874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↑ 2.1pp vs 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/>
          <p:nvPr/>
        </p:nvSpPr>
        <p:spPr>
          <a:xfrm>
            <a:off x="0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2"/>
          <p:cNvSpPr/>
          <p:nvPr/>
        </p:nvSpPr>
        <p:spPr>
          <a:xfrm>
            <a:off x="6841375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Mini Project: Sales Performance Dashboard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Step-by-Step Build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3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Dashboard – Step-by-Step Build Plan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 – SETUP (5 min): Open sales_dataset.xlsx. Rename Sheet1 'Data'. Create Sheet2 'Pivots', Sheet3 'Dashboard'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 – PIVOT TABLES (15 min): Create 4 Pivot Tables on the Pivots sheet: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PT1: Revenue by Region (Row=Region, Value=SUM of Revenue)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PT2: Monthly Revenue Trend (Row=Order_Date grouped by Month, Value=SUM Revenue)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PT3: Top 10 Products by Revenue (Row=Product_Name, Value=Revenue, Top 10 filter)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PT4: Salesperson Performance (Row=Salesperson, Values=Revenue+Orders)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 – CHARTS (10 min): Create 4 Pivot Charts from the 4 Pivot Tables above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 – DASHBOARD LAYOUT (10 min): On Dashboard sheet — set background to dark (#0F2044)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Add KPI cards using rounded rectangles + GETPIVOTDATA formulas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5 – SLICERS (5 min): Insert Slicers for Year, Region, Product_Category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Connect each slicer to ALL 4 Pivot Tables (right-click → Report Connections)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6 – POLISH (5 min): Remove gridlines (View → uncheck Gridlines). Add title. Align elements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4"/>
          <p:cNvSpPr/>
          <p:nvPr/>
        </p:nvSpPr>
        <p:spPr>
          <a:xfrm>
            <a:off x="6858000" y="2791691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4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HR Dashboard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4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Workforce Analytics in Excel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5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Dashboard – Step-by-Step Build Plan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1 – SETUP: Open hr_dataset.xlsx. Create sheets: Data, Pivots, HR_Dashboard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2 – CALCULATED COLUMNS in Data sheet: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Col N: Experience_Band = IF(L2&lt;2,'Junior',IF(L2&lt;5,'Mid',IF(L2&lt;10,'Senior','Lead')))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Col O: Salary_Band = IF(H2&lt;30000,'Entry',IF(H2&lt;60000,'Mid',IF(H2&lt;100000,'Senior','Executive')))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Col P: Attrition = IF(M2='Resigned', 1, 0) — 1 for resigned employees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3 – PIVOT TABLES: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PT1: Employee Count by Department (Row=Department, Value=COUNTA of Employee_ID)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PT2: Gender Distribution (Row=Gender, Value=COUNT, show as % of total)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PT3: Average Salary by Department (Row=Department, Value=AVERAGE of Salary)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  PT4: Attrition Rate = SUM(Attrition)/COUNT(Employee_ID) by Department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4 – KPI CARDS: Employee Count | Avg Salary | Attrition Rate | Avg Performance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5 – CHARTS: Bar (Dept headcount) | Pie (Gender) | Bar (Avg Salary) | Line (Experience)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STEP 6 – SLICERS: Department | Location | Gender | Employment_Status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/>
          <p:nvPr/>
        </p:nvSpPr>
        <p:spPr>
          <a:xfrm>
            <a:off x="51262" y="91440"/>
            <a:ext cx="2743200" cy="2743200"/>
          </a:xfrm>
          <a:prstGeom prst="ellipse">
            <a:avLst/>
          </a:prstGeom>
          <a:solidFill>
            <a:srgbClr val="1A7A4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6"/>
          <p:cNvSpPr/>
          <p:nvPr/>
        </p:nvSpPr>
        <p:spPr>
          <a:xfrm>
            <a:off x="6806738" y="2743200"/>
            <a:ext cx="2286000" cy="2286000"/>
          </a:xfrm>
          <a:prstGeom prst="ellipse">
            <a:avLst/>
          </a:prstGeom>
          <a:solidFill>
            <a:srgbClr val="00C85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6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SECTION 14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6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End of Module Assignment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Apply Everything You've Learned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7"/>
          <p:cNvSpPr/>
          <p:nvPr/>
        </p:nvSpPr>
        <p:spPr>
          <a:xfrm>
            <a:off x="365760" y="82296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2 Assignment – Instructions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7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📋 ASSIGNMENT: Build an Excel Analytics Report using the Sales Dataset provided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1 – Data Cleaning : Clean the raw data — fix blanks, remove duplicates, standardize text, fix data types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2 – Calculated Columns : Add Profit_Margin%, Revenue_Band, Order_Status (&gt;=1000='High', else='Standard')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3 – Formula Sheet : Summary table with SUM, AVERAGE, MAX, MIN, COUNTIF, SUMIF formulas for key metrics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4 – Pivot Tables : (a) Revenue by Region × Quarter, (b) Top 5 Products, (c) Salesperson ranking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TASK 5 – Dashboard : One-page dashboard with 4 KPI cards, 3 charts, and 2 slicers (Region, Year)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C1C1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SUBMISSION FORMAT: Single .xlsx file with sheets: Raw_Data, Cleaned_Data, Formulas, Pivots, 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4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8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7A4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8"/>
          <p:cNvSpPr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Calibri"/>
              <a:buNone/>
            </a:pPr>
            <a:r>
              <a:rPr lang="en-US" sz="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🎉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8"/>
          <p:cNvSpPr/>
          <p:nvPr/>
        </p:nvSpPr>
        <p:spPr>
          <a:xfrm>
            <a:off x="640080" y="15544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Module 2 Complete!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8"/>
          <p:cNvSpPr/>
          <p:nvPr/>
        </p:nvSpPr>
        <p:spPr>
          <a:xfrm>
            <a:off x="64008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FD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2DFDB"/>
                </a:solidFill>
                <a:latin typeface="Calibri"/>
                <a:ea typeface="Calibri"/>
                <a:cs typeface="Calibri"/>
                <a:sym typeface="Calibri"/>
              </a:rPr>
              <a:t>You can now: Clean Data · Write Formulas · Build Pivots · Create Dashboards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8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Next: Module 3 – SQL for Data Analysis  |  Keep practising with the datasets!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2026-06-11T07:54:22Z</dcterms:created>
  <dc:creator>Senior Data Analytics Trainer</dc:creator>
</cp:coreProperties>
</file>