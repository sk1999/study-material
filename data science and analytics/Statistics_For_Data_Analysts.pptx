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8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880">
          <p15:clr>
            <a:srgbClr val="000000"/>
          </p15:clr>
        </p15:guide>
        <p15:guide id="2" orient="horz" pos="1620">
          <p15:clr>
            <a:srgbClr val="000000"/>
          </p15:clr>
        </p15:guide>
      </p15:sldGuideLst>
    </p:ext>
    <p:ext uri="GoogleSlidesCustomDataVersion2">
      <go:slidesCustomData xmlns:go="http://customooxmlschemas.google.com/" r:id="rId55" roundtripDataSignature="AMtx7mjsI0GR+sBMTFvFglf88cFFhMsL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61C25B9-F9FE-4B2E-93E8-C27FEF1F0ACC}">
  <a:tblStyle styleId="{D61C25B9-F9FE-4B2E-93E8-C27FEF1F0AC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/>
        <p:guide pos="162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customschemas.google.com/relationships/presentationmetadata" Target="metadata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Distribute the cheat sheet and study guide at the start. All live examples use the RetailMax retailmax PostgreSQL database from Module 3.</a:t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Draw the three measures on a board with a simple example: salaries [20k, 22k, 25k, 26k, 200k]. Mean = ~59k, Median = 25.5k, Mode = none. Ask: which best represents 'typical' salary?</a:t>
            </a:r>
            <a:endParaRPr/>
          </a:p>
        </p:txBody>
      </p:sp>
      <p:sp>
        <p:nvSpPr>
          <p:cNvPr id="44" name="Google Shape;4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Demo in SQL: SELECT AVG(salary) FROM employees; Then add a fictional CEO salary of Rs.500k and re-run — show how it jumps. Ask which is 'more honest'.</a:t>
            </a:r>
            <a:endParaRPr/>
          </a:p>
        </p:txBody>
      </p:sp>
      <p:sp>
        <p:nvSpPr>
          <p:cNvPr id="52" name="Google Shape;5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Sort employees by salary on screen. Have students identify the median manually for a 5-row sample before running the PERCENTILE_CONT query.</a:t>
            </a:r>
            <a:endParaRPr/>
          </a:p>
        </p:txBody>
      </p:sp>
      <p:sp>
        <p:nvSpPr>
          <p:cNvPr id="66" name="Google Shape;6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Ask: what is the mode of payment methods in a retail store? Mode of city in customer table?</a:t>
            </a:r>
            <a:endParaRPr/>
          </a:p>
        </p:txBody>
      </p:sp>
      <p:sp>
        <p:nvSpPr>
          <p:cNvPr id="82" name="Google Shape;8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Ask students: which measure would a government use to report average income? Why does media often report median household income instead of mean?</a:t>
            </a:r>
            <a:endParaRPr/>
          </a:p>
        </p:txBody>
      </p:sp>
      <p:sp>
        <p:nvSpPr>
          <p:cNvPr id="96" name="Google Shape;9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Show the two datasets on a number line. Both have mean 50k but look completely different visually.</a:t>
            </a:r>
            <a:endParaRPr/>
          </a:p>
        </p:txBody>
      </p:sp>
      <p:sp>
        <p:nvSpPr>
          <p:cNvPr id="114" name="Google Shape;11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Walk through a tiny example: [2, 4, 6]. Mean=4. Deviations: [-2,0,2]. Squared: [4,0,4]. Variance = 8/3 ≈ 2.67.</a:t>
            </a:r>
            <a:endParaRPr/>
          </a:p>
        </p:txBody>
      </p:sp>
      <p:sp>
        <p:nvSpPr>
          <p:cNvPr id="122" name="Google Shape;12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Demo: STDDEV(salary) vs STDDEV(unit_price). Which has more relative variability? Use coefficient of variation to compare.</a:t>
            </a:r>
            <a:endParaRPr/>
          </a:p>
        </p:txBody>
      </p:sp>
      <p:sp>
        <p:nvSpPr>
          <p:cNvPr id="140" name="Google Shape;14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IQR rule for outliers: any value below Q1 − 1.5×IQR or above Q3 + 1.5×IQR is considered an outlier.</a:t>
            </a:r>
            <a:endParaRPr/>
          </a:p>
        </p:txBody>
      </p:sp>
      <p:sp>
        <p:nvSpPr>
          <p:cNvPr id="154" name="Google Shape;15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Ask: if 15 out of 100 RetailMax orders are Cancelled, what is P(Cancelled)? Answer: 0.15 or 15%</a:t>
            </a:r>
            <a:endParaRPr/>
          </a:p>
        </p:txBody>
      </p:sp>
      <p:sp>
        <p:nvSpPr>
          <p:cNvPr id="172" name="Google Shape;17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Work through: P(order from North OR order Completed). Find each, find overlap, apply addition rule.</a:t>
            </a:r>
            <a:endParaRPr/>
          </a:p>
        </p:txBody>
      </p:sp>
      <p:sp>
        <p:nvSpPr>
          <p:cNvPr id="180" name="Google Shape;180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Have students compute EV for a marketing campaign: Rs.2L profit (P=0.3), Rs.50k loss (P=0.7). Answer: Rs.25k loss — don't run it.</a:t>
            </a:r>
            <a:endParaRPr/>
          </a:p>
        </p:txBody>
      </p:sp>
      <p:sp>
        <p:nvSpPr>
          <p:cNvPr id="196" name="Google Shape;196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classic example: 'Number of Nicolas Cage films per year correlates with US pool drownings (r = 0.67)'. Correlation without causation. RetailMax: does discount size correlate with quantity ordered?</a:t>
            </a:r>
            <a:endParaRPr/>
          </a:p>
        </p:txBody>
      </p:sp>
      <p:sp>
        <p:nvSpPr>
          <p:cNvPr id="214" name="Google Shape;214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Run CORR(discount, quantity) on retailmax. Interpret the result. Then run CORR(unit_price, quantity) — what does a negative r here mean?</a:t>
            </a:r>
            <a:endParaRPr/>
          </a:p>
        </p:txBody>
      </p:sp>
      <p:sp>
        <p:nvSpPr>
          <p:cNvPr id="222" name="Google Shape;222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Visualise on board: scatter plot of discount vs revenue. Draw the regression line. β₁ negative means higher discount → lower revenue per item (but possibly more volume).</a:t>
            </a:r>
            <a:endParaRPr/>
          </a:p>
        </p:txBody>
      </p:sp>
      <p:sp>
        <p:nvSpPr>
          <p:cNvPr id="236" name="Google Shape;236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Show students how to read a regression table. Focus on R² and p-value first — these answer 'how good is the model' and 'is it real'.</a:t>
            </a:r>
            <a:endParaRPr/>
          </a:p>
        </p:txBody>
      </p:sp>
      <p:sp>
        <p:nvSpPr>
          <p:cNvPr id="244" name="Google Shape;244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Draw the bell curve on the board. Mark the 3 zones. Example: mean salary Rs.60k, SD Rs.15k. Rs.90k is (90-60)/15 = 2 SDs above mean — in the top 2.5%.</a:t>
            </a:r>
            <a:endParaRPr/>
          </a:p>
        </p:txBody>
      </p:sp>
      <p:sp>
        <p:nvSpPr>
          <p:cNvPr id="262" name="Google Shape;262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Demonstrate conceptually: flip a coin 1,000 times per experiment, record proportion of heads, repeat 500 experiments. The distribution of proportions will look normal even though each coin flip is binary.</a:t>
            </a:r>
            <a:endParaRPr/>
          </a:p>
        </p:txBody>
      </p:sp>
      <p:sp>
        <p:nvSpPr>
          <p:cNvPr id="270" name="Google Shape;270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Ask: which distribution would order arrival times follow? (Poisson). Which for customer age? (approximately Normal). Which for 'did customer buy yes/no'? (Binomial).</a:t>
            </a:r>
            <a:endParaRPr/>
          </a:p>
        </p:txBody>
      </p:sp>
      <p:sp>
        <p:nvSpPr>
          <p:cNvPr id="278" name="Google Shape;278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Show: SELECT * FROM orders WHERE RANDOM() &lt; 0.1; — a 10% random sample in PostgreSQL. Ask: would this be simple random sampling?</a:t>
            </a:r>
            <a:endParaRPr/>
          </a:p>
        </p:txBody>
      </p:sp>
      <p:sp>
        <p:nvSpPr>
          <p:cNvPr id="286" name="Google Shape;286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Analogy: in a court trial, H₀ = 'innocent until proven guilty'. We reject H₀ only when evidence is overwhelming (p &lt; 0.05). We never 'prove innocence' — we just 'fail to convict'.</a:t>
            </a:r>
            <a:endParaRPr/>
          </a:p>
        </p:txBody>
      </p:sp>
      <p:sp>
        <p:nvSpPr>
          <p:cNvPr id="304" name="Google Shape;304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Work through: x̄=11,500, μ₀=12,000, s=3,200, n=100. t = (11500-12000)/(3200/√100) = -500/320 = -1.5625. p ≈ 0.12 &gt; 0.05 → fail to reject H₀.</a:t>
            </a:r>
            <a:endParaRPr/>
          </a:p>
        </p:txBody>
      </p:sp>
      <p:sp>
        <p:nvSpPr>
          <p:cNvPr id="312" name="Google Shape;312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RetailMax demo: split orders into Corporate vs SME. Calculate mean revenue for each. Run two-sample t-test. Interpret.</a:t>
            </a:r>
            <a:endParaRPr/>
          </a:p>
        </p:txBody>
      </p:sp>
      <p:sp>
        <p:nvSpPr>
          <p:cNvPr id="326" name="Google Shape;326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Type I Error: 'fire alarm goes off but no fire' — we rejected H₀ when we shouldn't have. Type II Error: 'fire but no alarm' — we missed a real effect. The tradeoff: reducing α reduces Type I but increases Type II.</a:t>
            </a:r>
            <a:endParaRPr/>
          </a:p>
        </p:txBody>
      </p:sp>
      <p:sp>
        <p:nvSpPr>
          <p:cNvPr id="342" name="Google Shape;342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9" name="Google Shape;349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Key distinction: if your question involves averages of numbers → t-test. If it involves counts in categories → chi-square.</a:t>
            </a:r>
            <a:endParaRPr/>
          </a:p>
        </p:txBody>
      </p:sp>
      <p:sp>
        <p:nvSpPr>
          <p:cNvPr id="360" name="Google Shape;360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" name="Google Shape;367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Demo: build a contingency table of Region × Order Status in SQL. Feed it into Python chi2_contingency. Interpret.</a:t>
            </a:r>
            <a:endParaRPr/>
          </a:p>
        </p:txBody>
      </p:sp>
      <p:sp>
        <p:nvSpPr>
          <p:cNvPr id="368" name="Google Shape;368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1" name="Google Shape;381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Expected for North-Completed = (250 × 525) / 715 = 183.7. Compare to Observed 185. χ² for this cell = (185-183.7)²/183.7 ≈ 0.009. Sum over all 12 cells to get total χ². With df=(4-1)(3-1)=6, compare to critical value 12.59 at α=0.05.</a:t>
            </a:r>
            <a:endParaRPr/>
          </a:p>
        </p:txBody>
      </p:sp>
      <p:sp>
        <p:nvSpPr>
          <p:cNvPr id="382" name="Google Shape;382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9" name="Google Shape;389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9" name="Google Shape;399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Spend 10 minutes on this slide. Have students apply the framework to: 'Should RetailMax change their pricing strategy for the Electronics category?'</a:t>
            </a:r>
            <a:endParaRPr/>
          </a:p>
        </p:txBody>
      </p:sp>
      <p:sp>
        <p:nvSpPr>
          <p:cNvPr id="400" name="Google Shape;400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7" name="Google Shape;407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Live demo this in Python/SQL. Students should be able to run the full 5-step process themselves in the capstone.</a:t>
            </a:r>
            <a:endParaRPr/>
          </a:p>
        </p:txBody>
      </p:sp>
      <p:sp>
        <p:nvSpPr>
          <p:cNvPr id="408" name="Google Shape;408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5" name="Google Shape;415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a classic profitability tension analysis. Discounts drive volume but reduce margin. The stats tell you HOW MUCH — the business decision weighs volume vs margin.</a:t>
            </a:r>
            <a:endParaRPr/>
          </a:p>
        </p:txBody>
      </p:sp>
      <p:sp>
        <p:nvSpPr>
          <p:cNvPr id="416" name="Google Shape;416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3" name="Google Shape;423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ANOVA is the 'three or more groups' extension of the t-test. The F-statistic compares variation BETWEEN groups to variation WITHIN groups.</a:t>
            </a:r>
            <a:endParaRPr/>
          </a:p>
        </p:txBody>
      </p:sp>
      <p:sp>
        <p:nvSpPr>
          <p:cNvPr id="424" name="Google Shape;424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1" name="Google Shape;431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a churn/risk analysis disguised as a chi-square test. Businesses use this pattern constantly for customer risk segmentation.</a:t>
            </a:r>
            <a:endParaRPr/>
          </a:p>
        </p:txBody>
      </p:sp>
      <p:sp>
        <p:nvSpPr>
          <p:cNvPr id="432" name="Google Shape;432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9" name="Google Shape;439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9" name="Google Shape;449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Students should practise answering each question in 60-90 seconds out loud.</a:t>
            </a:r>
            <a:endParaRPr/>
          </a:p>
        </p:txBody>
      </p:sp>
      <p:sp>
        <p:nvSpPr>
          <p:cNvPr id="450" name="Google Shape;450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7" name="Google Shape;457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Pair students for mock interviews. After 10 questions each, discuss answers as a class.</a:t>
            </a:r>
            <a:endParaRPr/>
          </a:p>
        </p:txBody>
      </p:sp>
      <p:sp>
        <p:nvSpPr>
          <p:cNvPr id="458" name="Google Shape;458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5" name="Google Shape;465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5" name="Google Shape;475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Distribute the Capstone brief. Task 5 is the richest — it combines correlation, regression, and a business decision. Allocate 40% of time there.</a:t>
            </a:r>
            <a:endParaRPr/>
          </a:p>
        </p:txBody>
      </p:sp>
      <p:sp>
        <p:nvSpPr>
          <p:cNvPr id="476" name="Google Shape;476;p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3" name="Google Shape;483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Congratulate students. Statistics is the hardest module conceptually — completing it is a significant achievement. Remind them the cheat sheet covers all key formulas for quick reference during the capstone.</a:t>
            </a:r>
            <a:endParaRPr/>
          </a:p>
        </p:txBody>
      </p:sp>
      <p:sp>
        <p:nvSpPr>
          <p:cNvPr id="484" name="Google Shape;484;p4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2B3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4791247" y="91439"/>
            <a:ext cx="4114800" cy="4114800"/>
          </a:xfrm>
          <a:prstGeom prst="ellipse">
            <a:avLst/>
          </a:prstGeom>
          <a:solidFill>
            <a:srgbClr val="0E7C7B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306531" y="2331719"/>
            <a:ext cx="2743200" cy="2743200"/>
          </a:xfrm>
          <a:prstGeom prst="ellipse">
            <a:avLst/>
          </a:prstGeom>
          <a:solidFill>
            <a:srgbClr val="F4A261">
              <a:alpha val="3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3200400" y="228599"/>
            <a:ext cx="1371600" cy="1371600"/>
          </a:xfrm>
          <a:prstGeom prst="ellipse">
            <a:avLst/>
          </a:prstGeom>
          <a:solidFill>
            <a:srgbClr val="F4A261">
              <a:alpha val="4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640080" y="9144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MODULE 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640080" y="1417320"/>
            <a:ext cx="7315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Statistics for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Data Analysts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640080" y="333756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CAF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0CAF9"/>
                </a:solidFill>
                <a:latin typeface="Calibri"/>
                <a:ea typeface="Calibri"/>
                <a:cs typeface="Calibri"/>
                <a:sym typeface="Calibri"/>
              </a:rPr>
              <a:t>Mean · Median · Mode · Variance · Probability · Correlation · Regression · Sampling · Hypothesis Testing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640080" y="384048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8909C"/>
                </a:solidFill>
                <a:latin typeface="Calibri"/>
                <a:ea typeface="Calibri"/>
                <a:cs typeface="Calibri"/>
                <a:sym typeface="Calibri"/>
              </a:rPr>
              <a:t>Includes: Hands-On Business Decision Analysis Using Stats  |  RetailMax India Dataset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B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Agenda — 10 Sections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457200" y="82296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Section 1: Mean, Median, Mode — Measures of Central Tendency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Section 2: Variance &amp; Standard Deviation — Measures of Spread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Section 3: Probability Basics — Foundations for Inference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Section 4: Correlation &amp; Regression — Finding Relationships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Section 5: Sampling &amp; Distributions — Normal, Binomial, Central Limit Theorem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Section 6: Hypothesis Testing Part 1 — t-test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Section 7: Hypothesis Testing Part 2 — Chi-Square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Section 8: Hands-On Business Decision Analysis Using Stats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Section 9: Interview Questions &amp; Common Mistakes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Section 10: Final Capstone Briefing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2B3E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"/>
          <p:cNvSpPr/>
          <p:nvPr/>
        </p:nvSpPr>
        <p:spPr>
          <a:xfrm>
            <a:off x="160366" y="65116"/>
            <a:ext cx="2926080" cy="2926080"/>
          </a:xfrm>
          <a:prstGeom prst="ellipse">
            <a:avLst/>
          </a:prstGeom>
          <a:solidFill>
            <a:srgbClr val="0E7C7B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"/>
          <p:cNvSpPr/>
          <p:nvPr/>
        </p:nvSpPr>
        <p:spPr>
          <a:xfrm>
            <a:off x="7140286" y="3200400"/>
            <a:ext cx="1828800" cy="1828800"/>
          </a:xfrm>
          <a:prstGeom prst="ellipse">
            <a:avLst/>
          </a:prstGeom>
          <a:solidFill>
            <a:srgbClr val="F4A261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"/>
          <p:cNvSpPr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SECTION 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640080" y="1920240"/>
            <a:ext cx="78638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Mean, Median &amp; Mode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640080" y="320040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CAF9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90CAF9"/>
                </a:solidFill>
                <a:latin typeface="Calibri"/>
                <a:ea typeface="Calibri"/>
                <a:cs typeface="Calibri"/>
                <a:sym typeface="Calibri"/>
              </a:rPr>
              <a:t>Measures of Central Tendency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B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Measures of Central Tendency Matter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457200" y="82296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A single number that represents the 'centre' of a dataset — called a measure of central tendency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Three main measures: Mean (average), Median (middle), Mode (most frequent)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Each answers the same question differently: 'What is a typical value in this data?'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Choosing the wrong measure misleads decisions — a salary dataset with 1 CEO can make the mean look very different from most employees' pay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💼 RetailMax Example: average order value, most common product category, middle customer's lifetime spend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Key question before choosing: Is the data symmetric? Are there outliers? Is the data numerical or categorical?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Mean — The Arithmetic Average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365760" y="822960"/>
            <a:ext cx="8412480" cy="749808"/>
          </a:xfrm>
          <a:prstGeom prst="roundRect">
            <a:avLst>
              <a:gd fmla="val 6098" name="adj"/>
            </a:avLst>
          </a:prstGeom>
          <a:solidFill>
            <a:srgbClr val="0D2B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548640" y="868680"/>
            <a:ext cx="80467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Mean (x̄) = Sum of all values / Number of values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365760" y="1627632"/>
            <a:ext cx="8412480" cy="749808"/>
          </a:xfrm>
          <a:prstGeom prst="roundRect">
            <a:avLst>
              <a:gd fmla="val 6098" name="adj"/>
            </a:avLst>
          </a:prstGeom>
          <a:solidFill>
            <a:srgbClr val="0D2B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548640" y="1673352"/>
            <a:ext cx="80467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Mean = (x₁ + x₂ + x₃ + ... + xₙ) / 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365760" y="2432303"/>
            <a:ext cx="8412480" cy="749808"/>
          </a:xfrm>
          <a:prstGeom prst="roundRect">
            <a:avLst>
              <a:gd fmla="val 6098" name="adj"/>
            </a:avLst>
          </a:prstGeom>
          <a:solidFill>
            <a:srgbClr val="0D2B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548640" y="2478024"/>
            <a:ext cx="80467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SQL:  SELECT AVG(unit_price) AS mean_price FROM products;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457200" y="3346704"/>
            <a:ext cx="822960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Add up all values, then divide by the count — the 'balance point' of the data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Sensitive to outliers: one very large or very small value pulls the mean strongly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Best for: symmetric data without extreme outliers (e.g. heights, test scores)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RetailMax: AVG(quantity * unit_price) gives mean order value = approx Rs.12,400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💡 Weighted Mean: when values have different importance, multiply each by its weight, sum, then divide by total weight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6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Median — The Middle Value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365760" y="822960"/>
            <a:ext cx="8412480" cy="685800"/>
          </a:xfrm>
          <a:prstGeom prst="roundRect">
            <a:avLst>
              <a:gd fmla="val 6667" name="adj"/>
            </a:avLst>
          </a:prstGeom>
          <a:solidFill>
            <a:srgbClr val="0D2B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6"/>
          <p:cNvSpPr/>
          <p:nvPr/>
        </p:nvSpPr>
        <p:spPr>
          <a:xfrm>
            <a:off x="548640" y="868680"/>
            <a:ext cx="8046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Sort all values in ascending order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365760" y="1563624"/>
            <a:ext cx="8412480" cy="685800"/>
          </a:xfrm>
          <a:prstGeom prst="roundRect">
            <a:avLst>
              <a:gd fmla="val 6667" name="adj"/>
            </a:avLst>
          </a:prstGeom>
          <a:solidFill>
            <a:srgbClr val="0D2B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6"/>
          <p:cNvSpPr/>
          <p:nvPr/>
        </p:nvSpPr>
        <p:spPr>
          <a:xfrm>
            <a:off x="548640" y="1609344"/>
            <a:ext cx="8046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If n is ODD:   Median = value at position (n+1)/2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365760" y="2304288"/>
            <a:ext cx="8412480" cy="685800"/>
          </a:xfrm>
          <a:prstGeom prst="roundRect">
            <a:avLst>
              <a:gd fmla="val 6667" name="adj"/>
            </a:avLst>
          </a:prstGeom>
          <a:solidFill>
            <a:srgbClr val="0D2B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6"/>
          <p:cNvSpPr/>
          <p:nvPr/>
        </p:nvSpPr>
        <p:spPr>
          <a:xfrm>
            <a:off x="548640" y="2350008"/>
            <a:ext cx="8046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If n is EVEN:  Median = average of values at positions n/2 and (n/2)+1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365759" y="3044952"/>
            <a:ext cx="8412480" cy="548570"/>
          </a:xfrm>
          <a:prstGeom prst="roundRect">
            <a:avLst>
              <a:gd fmla="val 6667" name="adj"/>
            </a:avLst>
          </a:prstGeom>
          <a:solidFill>
            <a:srgbClr val="0D2B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6"/>
          <p:cNvSpPr/>
          <p:nvPr/>
        </p:nvSpPr>
        <p:spPr>
          <a:xfrm>
            <a:off x="548640" y="3090672"/>
            <a:ext cx="8046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SQL (PostgreSQL):  SELECT PERCENTILE_CONT(0.5) WITHIN GROUP (ORDER BY salary) FROM employees;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457200" y="3895343"/>
            <a:ext cx="8229600" cy="950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The median is the value that splits the dataset exactly in half — 50% of values below, 50% above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NOT affected by outliers — this is its key advantage over the mean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Best for: skewed data, income/wealth, house prices, order values with a wide range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RetailMax: Median employee salary tells us what a typical employee earns, unaffected by senior management pay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If Mean ≠ Median significantly, the data is likely skewed — investigate why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7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 — The Most Frequent Value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7"/>
          <p:cNvSpPr/>
          <p:nvPr/>
        </p:nvSpPr>
        <p:spPr>
          <a:xfrm>
            <a:off x="365760" y="822960"/>
            <a:ext cx="8412480" cy="749808"/>
          </a:xfrm>
          <a:prstGeom prst="roundRect">
            <a:avLst>
              <a:gd fmla="val 6098" name="adj"/>
            </a:avLst>
          </a:prstGeom>
          <a:solidFill>
            <a:srgbClr val="0D2B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7"/>
          <p:cNvSpPr/>
          <p:nvPr/>
        </p:nvSpPr>
        <p:spPr>
          <a:xfrm>
            <a:off x="548640" y="868680"/>
            <a:ext cx="80467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Mode = the value that appears most often in the dataset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7"/>
          <p:cNvSpPr/>
          <p:nvPr/>
        </p:nvSpPr>
        <p:spPr>
          <a:xfrm>
            <a:off x="365760" y="1627632"/>
            <a:ext cx="8412480" cy="749808"/>
          </a:xfrm>
          <a:prstGeom prst="roundRect">
            <a:avLst>
              <a:gd fmla="val 6098" name="adj"/>
            </a:avLst>
          </a:prstGeom>
          <a:solidFill>
            <a:srgbClr val="0D2B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7"/>
          <p:cNvSpPr/>
          <p:nvPr/>
        </p:nvSpPr>
        <p:spPr>
          <a:xfrm>
            <a:off x="548640" y="1673352"/>
            <a:ext cx="80467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SQL:  SELECT product_category, COUNT(*) AS freq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365760" y="2432303"/>
            <a:ext cx="8412480" cy="749808"/>
          </a:xfrm>
          <a:prstGeom prst="roundRect">
            <a:avLst>
              <a:gd fmla="val 6098" name="adj"/>
            </a:avLst>
          </a:prstGeom>
          <a:solidFill>
            <a:srgbClr val="0D2B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7"/>
          <p:cNvSpPr/>
          <p:nvPr/>
        </p:nvSpPr>
        <p:spPr>
          <a:xfrm>
            <a:off x="548640" y="2478024"/>
            <a:ext cx="80467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FROM orders GROUP BY product_category ORDER BY freq DESC LIMIT 1;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7"/>
          <p:cNvSpPr/>
          <p:nvPr/>
        </p:nvSpPr>
        <p:spPr>
          <a:xfrm>
            <a:off x="457200" y="3346704"/>
            <a:ext cx="822960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A dataset can have: No mode (all values unique), One mode (unimodal), Two modes (bimodal), Multiple modes (multimodal)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The ONLY measure that works for categorical (non-numeric) data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Best for: product categories, customer segments, city names, ratings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RetailMax: Mode of </a:t>
            </a:r>
            <a:r>
              <a:rPr lang="en-US" sz="135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region</a:t>
            </a:r>
            <a:r>
              <a:rPr b="0" i="0" lang="en-US" sz="135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 tells us which </a:t>
            </a:r>
            <a:r>
              <a:rPr lang="en-US" sz="135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region </a:t>
            </a:r>
            <a:r>
              <a:rPr b="0" i="0" lang="en-US" sz="135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is ordered most frequently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💡 Mode is critical in market basket analysis — 'what is the most </a:t>
            </a:r>
            <a:r>
              <a:rPr lang="en-US" sz="135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highests </a:t>
            </a:r>
            <a:r>
              <a:rPr lang="en-US" sz="135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region orders we got</a:t>
            </a:r>
            <a:r>
              <a:rPr b="0" i="0" lang="en-US" sz="135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?'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8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B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8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Mean vs Median vs Mode — When to Use Which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0" name="Google Shape;100;p8"/>
          <p:cNvGraphicFramePr/>
          <p:nvPr/>
        </p:nvGraphicFramePr>
        <p:xfrm>
          <a:off x="457200" y="8229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{D61C25B9-F9FE-4B2E-93E8-C27FEF1F0ACC}</a:tableStyleId>
              </a:tblPr>
              <a:tblGrid>
                <a:gridCol w="1371600"/>
                <a:gridCol w="2194550"/>
                <a:gridCol w="1554475"/>
                <a:gridCol w="1554475"/>
                <a:gridCol w="155447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Measure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Best For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Affected by Outliers?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Works on Categorical?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RetailMax Example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7B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Mean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Symmetric data, no extremes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 — strongly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Avg order value, avg salary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Median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Skewed data, income, prices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— robust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Median salary, median order size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4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Categories, most common items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 — only one that does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Most ordered product, top city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2B3E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9"/>
          <p:cNvSpPr/>
          <p:nvPr/>
        </p:nvSpPr>
        <p:spPr>
          <a:xfrm>
            <a:off x="195002" y="182880"/>
            <a:ext cx="2926080" cy="2926080"/>
          </a:xfrm>
          <a:prstGeom prst="ellipse">
            <a:avLst/>
          </a:prstGeom>
          <a:solidFill>
            <a:srgbClr val="0E7C7B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9"/>
          <p:cNvSpPr/>
          <p:nvPr/>
        </p:nvSpPr>
        <p:spPr>
          <a:xfrm>
            <a:off x="7226877" y="3108960"/>
            <a:ext cx="1828800" cy="1828800"/>
          </a:xfrm>
          <a:prstGeom prst="ellipse">
            <a:avLst/>
          </a:prstGeom>
          <a:solidFill>
            <a:srgbClr val="F4A261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9"/>
          <p:cNvSpPr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SECTION 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9"/>
          <p:cNvSpPr/>
          <p:nvPr/>
        </p:nvSpPr>
        <p:spPr>
          <a:xfrm>
            <a:off x="640080" y="1920240"/>
            <a:ext cx="78638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Variance &amp; Standard Deviation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9"/>
          <p:cNvSpPr/>
          <p:nvPr/>
        </p:nvSpPr>
        <p:spPr>
          <a:xfrm>
            <a:off x="640080" y="320040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CAF9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90CAF9"/>
                </a:solidFill>
                <a:latin typeface="Calibri"/>
                <a:ea typeface="Calibri"/>
                <a:cs typeface="Calibri"/>
                <a:sym typeface="Calibri"/>
              </a:rPr>
              <a:t>Measures of Spread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B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0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Spread Matters — Not Just the Average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0"/>
          <p:cNvSpPr/>
          <p:nvPr/>
        </p:nvSpPr>
        <p:spPr>
          <a:xfrm>
            <a:off x="457200" y="82296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Two datasets can have the same mean but completely different distributions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Dataset A salaries: [48k, 50k, 50k, 52k] — Mean = 50k, very consistent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Dataset B salaries: [10k, 20k, 80k, 90k] — Mean = 50k, highly variable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Spread tells you: How reliable is the average? How much does individual performance vary?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Key measures of spread: Range, Variance, Standard Deviation, IQR (Interquartile Range)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💼 Business use: quality control, risk assessment, salary benchmarking, sales consistency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Variance — Average Squared Deviation from Mean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1"/>
          <p:cNvSpPr/>
          <p:nvPr/>
        </p:nvSpPr>
        <p:spPr>
          <a:xfrm>
            <a:off x="365760" y="822960"/>
            <a:ext cx="8412480" cy="548640"/>
          </a:xfrm>
          <a:prstGeom prst="roundRect">
            <a:avLst>
              <a:gd fmla="val 8333" name="adj"/>
            </a:avLst>
          </a:prstGeom>
          <a:solidFill>
            <a:srgbClr val="0D2B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1"/>
          <p:cNvSpPr/>
          <p:nvPr/>
        </p:nvSpPr>
        <p:spPr>
          <a:xfrm>
            <a:off x="548640" y="86868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Step 1: Find the mean (x̄)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1"/>
          <p:cNvSpPr/>
          <p:nvPr/>
        </p:nvSpPr>
        <p:spPr>
          <a:xfrm>
            <a:off x="365760" y="1426464"/>
            <a:ext cx="8412480" cy="548640"/>
          </a:xfrm>
          <a:prstGeom prst="roundRect">
            <a:avLst>
              <a:gd fmla="val 8333" name="adj"/>
            </a:avLst>
          </a:prstGeom>
          <a:solidFill>
            <a:srgbClr val="0D2B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1"/>
          <p:cNvSpPr/>
          <p:nvPr/>
        </p:nvSpPr>
        <p:spPr>
          <a:xfrm>
            <a:off x="548640" y="1472184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Step 2: Subtract mean from each value: (xᵢ - x̄)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1"/>
          <p:cNvSpPr/>
          <p:nvPr/>
        </p:nvSpPr>
        <p:spPr>
          <a:xfrm>
            <a:off x="365760" y="2029968"/>
            <a:ext cx="8412480" cy="548640"/>
          </a:xfrm>
          <a:prstGeom prst="roundRect">
            <a:avLst>
              <a:gd fmla="val 8333" name="adj"/>
            </a:avLst>
          </a:prstGeom>
          <a:solidFill>
            <a:srgbClr val="0D2B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1"/>
          <p:cNvSpPr/>
          <p:nvPr/>
        </p:nvSpPr>
        <p:spPr>
          <a:xfrm>
            <a:off x="548640" y="2075688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Step 3: Square each difference: (xᵢ - x̄)²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1"/>
          <p:cNvSpPr/>
          <p:nvPr/>
        </p:nvSpPr>
        <p:spPr>
          <a:xfrm>
            <a:off x="365760" y="2633472"/>
            <a:ext cx="8412480" cy="548640"/>
          </a:xfrm>
          <a:prstGeom prst="roundRect">
            <a:avLst>
              <a:gd fmla="val 8333" name="adj"/>
            </a:avLst>
          </a:prstGeom>
          <a:solidFill>
            <a:srgbClr val="0D2B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1"/>
          <p:cNvSpPr/>
          <p:nvPr/>
        </p:nvSpPr>
        <p:spPr>
          <a:xfrm>
            <a:off x="548640" y="2679192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Step 4: Variance (σ²) = Σ(xᵢ - x̄)² / n   (population)  or  / (n-1)  (sample)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1"/>
          <p:cNvSpPr/>
          <p:nvPr/>
        </p:nvSpPr>
        <p:spPr>
          <a:xfrm>
            <a:off x="365760" y="3236976"/>
            <a:ext cx="8412480" cy="548640"/>
          </a:xfrm>
          <a:prstGeom prst="roundRect">
            <a:avLst>
              <a:gd fmla="val 8333" name="adj"/>
            </a:avLst>
          </a:prstGeom>
          <a:solidFill>
            <a:srgbClr val="0D2B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1"/>
          <p:cNvSpPr/>
          <p:nvPr/>
        </p:nvSpPr>
        <p:spPr>
          <a:xfrm>
            <a:off x="548640" y="3282696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SQL:  SELECT VARIANCE(salary) AS variance FROM employees;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1"/>
          <p:cNvSpPr/>
          <p:nvPr/>
        </p:nvSpPr>
        <p:spPr>
          <a:xfrm>
            <a:off x="457200" y="3950208"/>
            <a:ext cx="822960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We square the differences so positive and negative deviations don't cancel out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Population variance (÷n) for complete data; Sample variance (÷n-1) for a subset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Units are squared — so variance of salaries in Rs is in Rs²  (hard to interpret directly)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Higher variance = more spread out data = more variability = less predictable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Standard Deviation — Back to Original Units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2"/>
          <p:cNvSpPr/>
          <p:nvPr/>
        </p:nvSpPr>
        <p:spPr>
          <a:xfrm>
            <a:off x="365760" y="822960"/>
            <a:ext cx="8412480" cy="749808"/>
          </a:xfrm>
          <a:prstGeom prst="roundRect">
            <a:avLst>
              <a:gd fmla="val 6098" name="adj"/>
            </a:avLst>
          </a:prstGeom>
          <a:solidFill>
            <a:srgbClr val="0D2B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2"/>
          <p:cNvSpPr/>
          <p:nvPr/>
        </p:nvSpPr>
        <p:spPr>
          <a:xfrm>
            <a:off x="548640" y="868680"/>
            <a:ext cx="80467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Standard Deviation (σ) = √Variance = √[ Σ(xᵢ - x̄)² / n ]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2"/>
          <p:cNvSpPr/>
          <p:nvPr/>
        </p:nvSpPr>
        <p:spPr>
          <a:xfrm>
            <a:off x="365760" y="1627632"/>
            <a:ext cx="8412480" cy="749808"/>
          </a:xfrm>
          <a:prstGeom prst="roundRect">
            <a:avLst>
              <a:gd fmla="val 6098" name="adj"/>
            </a:avLst>
          </a:prstGeom>
          <a:solidFill>
            <a:srgbClr val="0D2B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2"/>
          <p:cNvSpPr/>
          <p:nvPr/>
        </p:nvSpPr>
        <p:spPr>
          <a:xfrm>
            <a:off x="548640" y="1673352"/>
            <a:ext cx="80467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SQL:  SELECT STDDEV(salary) AS std_dev FROM employees;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2"/>
          <p:cNvSpPr/>
          <p:nvPr/>
        </p:nvSpPr>
        <p:spPr>
          <a:xfrm>
            <a:off x="365760" y="2432303"/>
            <a:ext cx="8412480" cy="749808"/>
          </a:xfrm>
          <a:prstGeom prst="roundRect">
            <a:avLst>
              <a:gd fmla="val 6098" name="adj"/>
            </a:avLst>
          </a:prstGeom>
          <a:solidFill>
            <a:srgbClr val="0D2B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2"/>
          <p:cNvSpPr/>
          <p:nvPr/>
        </p:nvSpPr>
        <p:spPr>
          <a:xfrm>
            <a:off x="548640" y="2478024"/>
            <a:ext cx="80467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SQL:  SELECT AVG(salary) AS mean, STDDEV(salary) AS std_dev FROM employees;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2"/>
          <p:cNvSpPr/>
          <p:nvPr/>
        </p:nvSpPr>
        <p:spPr>
          <a:xfrm>
            <a:off x="457200" y="3346704"/>
            <a:ext cx="822960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Standard deviation is the square root of variance — it's back in the original units (Rs, not Rs²)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Interpretation: about 68% of values lie within 1 std dev of the mean (in normal distributions)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Low SD = data is clustered near the mean. High SD = data is widely spread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RetailMax: STDDEV(unit_price) shows whether product pricing is consistent or highly variable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💡 Coefficient of Variation = (SD / Mean) × 100% — compares variability across different scales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3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B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3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Range, IQR, Variance &amp; SD — Quick Reference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8" name="Google Shape;158;p13"/>
          <p:cNvGraphicFramePr/>
          <p:nvPr/>
        </p:nvGraphicFramePr>
        <p:xfrm>
          <a:off x="457200" y="8229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{D61C25B9-F9FE-4B2E-93E8-C27FEF1F0ACC}</a:tableStyleId>
              </a:tblPr>
              <a:tblGrid>
                <a:gridCol w="1830625"/>
                <a:gridCol w="2662725"/>
                <a:gridCol w="1497775"/>
                <a:gridCol w="2329900"/>
              </a:tblGrid>
              <a:tr h="359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Measure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Formula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Outlier Sensitive?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 Case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7B"/>
                    </a:solidFill>
                  </a:tcPr>
                </a:tc>
              </a:tr>
              <a:tr h="339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Range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Max − Min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 — very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Quick first look at spread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9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IQR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Q3 − Q1 (middle 50%)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— robust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Detecting outliers, box plots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4"/>
                    </a:solidFill>
                  </a:tcPr>
                </a:tc>
              </a:tr>
              <a:tr h="347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Variance (σ²)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Σ(xᵢ−x̄)² / 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Mathematical calculations, ANOVA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59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Std Dev (σ)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√Variance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Most common spread measure — same units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4"/>
                    </a:solidFill>
                  </a:tcPr>
                </a:tc>
              </a:tr>
              <a:tr h="347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Coeff. of Variation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(σ/x̄)×100%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Compare spread across different scales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2B3E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4"/>
          <p:cNvSpPr/>
          <p:nvPr/>
        </p:nvSpPr>
        <p:spPr>
          <a:xfrm>
            <a:off x="307570" y="91093"/>
            <a:ext cx="2926080" cy="2926080"/>
          </a:xfrm>
          <a:prstGeom prst="ellipse">
            <a:avLst/>
          </a:prstGeom>
          <a:solidFill>
            <a:srgbClr val="0E7C7B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4"/>
          <p:cNvSpPr/>
          <p:nvPr/>
        </p:nvSpPr>
        <p:spPr>
          <a:xfrm>
            <a:off x="7114308" y="3108960"/>
            <a:ext cx="1828800" cy="1828800"/>
          </a:xfrm>
          <a:prstGeom prst="ellipse">
            <a:avLst/>
          </a:prstGeom>
          <a:solidFill>
            <a:srgbClr val="F4A261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4"/>
          <p:cNvSpPr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SECTION 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4"/>
          <p:cNvSpPr/>
          <p:nvPr/>
        </p:nvSpPr>
        <p:spPr>
          <a:xfrm>
            <a:off x="640080" y="1920240"/>
            <a:ext cx="78638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Probability Basics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4"/>
          <p:cNvSpPr/>
          <p:nvPr/>
        </p:nvSpPr>
        <p:spPr>
          <a:xfrm>
            <a:off x="640080" y="320040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CAF9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90CAF9"/>
                </a:solidFill>
                <a:latin typeface="Calibri"/>
                <a:ea typeface="Calibri"/>
                <a:cs typeface="Calibri"/>
                <a:sym typeface="Calibri"/>
              </a:rPr>
              <a:t>Foundations for Statistical Inference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5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B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5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is Probability?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5"/>
          <p:cNvSpPr/>
          <p:nvPr/>
        </p:nvSpPr>
        <p:spPr>
          <a:xfrm>
            <a:off x="457200" y="82296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Probability = a number between 0 and 1 measuring how likely an event is to occur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P(Event) = Number of favourable outcomes / Total number of possible outcomes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P = 0 means impossible. P = 1 means certain. P = 0.5 means equally likely as not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💼 Business examples: P(customer returns within 30 days), P(order is cancelled), P(product is out of stock)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Three types of probability: Classical (equal outcomes), Empirical (from data), Subjective (expert opinion)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RetailMax: P(order is Cancelled) = cancelled_orders / total_orders — compute directly with SQL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6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6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Probability Rules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6"/>
          <p:cNvSpPr/>
          <p:nvPr/>
        </p:nvSpPr>
        <p:spPr>
          <a:xfrm>
            <a:off x="365760" y="822960"/>
            <a:ext cx="8412480" cy="685800"/>
          </a:xfrm>
          <a:prstGeom prst="roundRect">
            <a:avLst>
              <a:gd fmla="val 6667" name="adj"/>
            </a:avLst>
          </a:prstGeom>
          <a:solidFill>
            <a:srgbClr val="0D2B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6"/>
          <p:cNvSpPr/>
          <p:nvPr/>
        </p:nvSpPr>
        <p:spPr>
          <a:xfrm>
            <a:off x="548640" y="868680"/>
            <a:ext cx="8046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Addition Rule:  P(A or B) = P(A) + P(B) − P(A and B)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6"/>
          <p:cNvSpPr/>
          <p:nvPr/>
        </p:nvSpPr>
        <p:spPr>
          <a:xfrm>
            <a:off x="365760" y="1563624"/>
            <a:ext cx="8412480" cy="685800"/>
          </a:xfrm>
          <a:prstGeom prst="roundRect">
            <a:avLst>
              <a:gd fmla="val 6667" name="adj"/>
            </a:avLst>
          </a:prstGeom>
          <a:solidFill>
            <a:srgbClr val="0D2B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6"/>
          <p:cNvSpPr/>
          <p:nvPr/>
        </p:nvSpPr>
        <p:spPr>
          <a:xfrm>
            <a:off x="548640" y="1609344"/>
            <a:ext cx="8046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Multiplication Rule (independent):  P(A and B) = P(A) × P(B)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6"/>
          <p:cNvSpPr/>
          <p:nvPr/>
        </p:nvSpPr>
        <p:spPr>
          <a:xfrm>
            <a:off x="365760" y="2304288"/>
            <a:ext cx="8412480" cy="685800"/>
          </a:xfrm>
          <a:prstGeom prst="roundRect">
            <a:avLst>
              <a:gd fmla="val 6667" name="adj"/>
            </a:avLst>
          </a:prstGeom>
          <a:solidFill>
            <a:srgbClr val="0D2B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6"/>
          <p:cNvSpPr/>
          <p:nvPr/>
        </p:nvSpPr>
        <p:spPr>
          <a:xfrm>
            <a:off x="548640" y="2350008"/>
            <a:ext cx="8046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Conditional Probability:  P(A|B) = P(A and B) / P(B)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6"/>
          <p:cNvSpPr/>
          <p:nvPr/>
        </p:nvSpPr>
        <p:spPr>
          <a:xfrm>
            <a:off x="365759" y="3044952"/>
            <a:ext cx="8412480" cy="505275"/>
          </a:xfrm>
          <a:prstGeom prst="roundRect">
            <a:avLst>
              <a:gd fmla="val 6667" name="adj"/>
            </a:avLst>
          </a:prstGeom>
          <a:solidFill>
            <a:srgbClr val="0D2B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6"/>
          <p:cNvSpPr/>
          <p:nvPr/>
        </p:nvSpPr>
        <p:spPr>
          <a:xfrm>
            <a:off x="548640" y="3090672"/>
            <a:ext cx="8046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Complement Rule:  P(not A) = 1 − P(A)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6"/>
          <p:cNvSpPr/>
          <p:nvPr/>
        </p:nvSpPr>
        <p:spPr>
          <a:xfrm>
            <a:off x="457200" y="3895343"/>
            <a:ext cx="8229600" cy="950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Addition Rule: for 'OR' events — subtract overlap so you don't double-count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Multiplication Rule: for 'AND' of independent events — multiply probabilities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Conditional Probability P(A|B): 'Probability of A given B has already happened'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Complement Rule: often easier to calculate P(not A) first, then subtract from 1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💼 RetailMax: P(Corporate customer AND order Completed) — are customer segment and order status independent?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7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B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7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Expected Value &amp; Business Applications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7"/>
          <p:cNvSpPr/>
          <p:nvPr/>
        </p:nvSpPr>
        <p:spPr>
          <a:xfrm>
            <a:off x="457200" y="82296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Expected Value (EV) = Σ [ outcome × probability ] for all possible outcomes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EV = x₁·P(x₁) + x₂·P(x₂) + x₃·P(x₃) + ... + xₙ·P(xₙ)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💼 Business Decision: launch new product or not?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   Profit if success (P=0.4): Rs.5,00,000   |   Loss if failure (P=0.6): Rs.1,50,000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   EV = (500000 × 0.4) + (−150000 × 0.6) = 200000 − 90000 = Rs.1,10,000 (positive → launch!)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EV is the long-run average outcome if you repeated the decision many times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Risk-neutral decision: choose the highest EV. Risk-averse: also consider variance of outcomes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2B3E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8"/>
          <p:cNvSpPr/>
          <p:nvPr/>
        </p:nvSpPr>
        <p:spPr>
          <a:xfrm>
            <a:off x="134389" y="0"/>
            <a:ext cx="2926080" cy="2926080"/>
          </a:xfrm>
          <a:prstGeom prst="ellipse">
            <a:avLst/>
          </a:prstGeom>
          <a:solidFill>
            <a:srgbClr val="0E7C7B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8"/>
          <p:cNvSpPr/>
          <p:nvPr/>
        </p:nvSpPr>
        <p:spPr>
          <a:xfrm>
            <a:off x="7071013" y="3108960"/>
            <a:ext cx="1828800" cy="1828800"/>
          </a:xfrm>
          <a:prstGeom prst="ellipse">
            <a:avLst/>
          </a:prstGeom>
          <a:solidFill>
            <a:srgbClr val="F4A261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8"/>
          <p:cNvSpPr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SECTION 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8"/>
          <p:cNvSpPr/>
          <p:nvPr/>
        </p:nvSpPr>
        <p:spPr>
          <a:xfrm>
            <a:off x="640080" y="1920240"/>
            <a:ext cx="78638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Correlation &amp; Regression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8"/>
          <p:cNvSpPr/>
          <p:nvPr/>
        </p:nvSpPr>
        <p:spPr>
          <a:xfrm>
            <a:off x="640080" y="320040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CAF9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90CAF9"/>
                </a:solidFill>
                <a:latin typeface="Calibri"/>
                <a:ea typeface="Calibri"/>
                <a:cs typeface="Calibri"/>
                <a:sym typeface="Calibri"/>
              </a:rPr>
              <a:t>Finding and Quantifying Relationships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9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B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9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Correlation — How Strongly Two Variables Move Together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9"/>
          <p:cNvSpPr/>
          <p:nvPr/>
        </p:nvSpPr>
        <p:spPr>
          <a:xfrm>
            <a:off x="457200" y="82296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Correlation measures the strength and direction of a linear relationship between two numeric variables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Pearson Correlation Coefficient (r): always between −1 and +1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  r = +1: perfect positive correlation (both go up together)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  r = 0: no linear relationship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  r = −1: perfect negative correlation (one up, other goes down)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Rule of thumb: |r| &gt; 0.7 = strong, 0.3–0.7 = moderate, &lt; 0.3 = weak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⚠️ CORRELATION ≠ CAUSATION — ice cream sales correlate with drownings (both caused by hot weather)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0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Pearson Correlation Coefficient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0"/>
          <p:cNvSpPr/>
          <p:nvPr/>
        </p:nvSpPr>
        <p:spPr>
          <a:xfrm>
            <a:off x="365760" y="822960"/>
            <a:ext cx="8412480" cy="749808"/>
          </a:xfrm>
          <a:prstGeom prst="roundRect">
            <a:avLst>
              <a:gd fmla="val 6098" name="adj"/>
            </a:avLst>
          </a:prstGeom>
          <a:solidFill>
            <a:srgbClr val="0D2B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0"/>
          <p:cNvSpPr/>
          <p:nvPr/>
        </p:nvSpPr>
        <p:spPr>
          <a:xfrm>
            <a:off x="548640" y="868680"/>
            <a:ext cx="80467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r = Σ[(xᵢ − x̄)(yᵢ − ȳ)] / √[Σ(xᵢ − x̄)² × Σ(yᵢ − ȳ)²]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0"/>
          <p:cNvSpPr/>
          <p:nvPr/>
        </p:nvSpPr>
        <p:spPr>
          <a:xfrm>
            <a:off x="365760" y="1627632"/>
            <a:ext cx="8412480" cy="749808"/>
          </a:xfrm>
          <a:prstGeom prst="roundRect">
            <a:avLst>
              <a:gd fmla="val 6098" name="adj"/>
            </a:avLst>
          </a:prstGeom>
          <a:solidFill>
            <a:srgbClr val="0D2B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0"/>
          <p:cNvSpPr/>
          <p:nvPr/>
        </p:nvSpPr>
        <p:spPr>
          <a:xfrm>
            <a:off x="548640" y="1673352"/>
            <a:ext cx="80467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SQL (PostgreSQL):  SELECT CORR(discount, quantity) AS r FROM order_items;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0"/>
          <p:cNvSpPr/>
          <p:nvPr/>
        </p:nvSpPr>
        <p:spPr>
          <a:xfrm>
            <a:off x="365760" y="2432303"/>
            <a:ext cx="8412480" cy="749808"/>
          </a:xfrm>
          <a:prstGeom prst="roundRect">
            <a:avLst>
              <a:gd fmla="val 6098" name="adj"/>
            </a:avLst>
          </a:prstGeom>
          <a:solidFill>
            <a:srgbClr val="0D2B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0"/>
          <p:cNvSpPr/>
          <p:nvPr/>
        </p:nvSpPr>
        <p:spPr>
          <a:xfrm>
            <a:off x="548640" y="2478024"/>
            <a:ext cx="80467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SQL:  SELECT CORR(unit_price, quantity) AS price_qty_corr FROM order_items;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457200" y="3346704"/>
            <a:ext cx="822960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The numerator measures how x and y deviate from their means together (covariance)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The denominator normalises by their individual spreads — giving a scale-free −1 to +1 result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r² (R-squared) = proportion of variance in y explained by x — very useful for regression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RetailMax: CORR(discount, quantity) — does offering a higher discount lead to larger orders?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Spearman rank correlation: use when data is ordinal or not normally distributed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B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Simple Linear Regression — Predicting with a Line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1"/>
          <p:cNvSpPr/>
          <p:nvPr/>
        </p:nvSpPr>
        <p:spPr>
          <a:xfrm>
            <a:off x="457200" y="82296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Regression finds the best-fit straight line through data: ŷ = β₀ + β₁x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  ŷ = predicted value of y (dependent variable / target)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  x = input value (independent variable / feature)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  β₀ = intercept (value of y when x = 0)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  β₁ = slope (how much y changes for each 1-unit increase in x)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Least Squares Method: minimise the sum of squared residuals (actual − predicted)²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β₁ = r × (σy / σx)     β₀ = ȳ − β₁x̄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💼 RetailMax: predict order revenue from discount percentage applied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B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Interpreting Regression Output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8" name="Google Shape;248;p22"/>
          <p:cNvGraphicFramePr/>
          <p:nvPr/>
        </p:nvGraphicFramePr>
        <p:xfrm>
          <a:off x="457200" y="8229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{D61C25B9-F9FE-4B2E-93E8-C27FEF1F0ACC}</a:tableStyleId>
              </a:tblPr>
              <a:tblGrid>
                <a:gridCol w="1690775"/>
                <a:gridCol w="2705250"/>
                <a:gridCol w="1521700"/>
                <a:gridCol w="253617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Metric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it Means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Ideal Value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RetailMax Interpretation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7B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R² (R-squared)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of variance in y explained by the model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Closer to 1 = better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R²=0.42 → discount explains 42% of revenue variation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p-value for slope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Is the relationship statistically significant?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 0.05 (significant)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p&lt;0.01 → discount has a real effect on revenue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4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Slope (β₁)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Change in y per 1-unit increase in x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Depends on context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β₁=−500 → each 1% more discount cuts revenue by Rs.500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Intercept (β₀)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Predicted y when x = 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Depends on context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Revenue when discount = 0%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4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Residual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Actual y − Predicted 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Should be small/random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Large residuals = model missing something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2B3E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3"/>
          <p:cNvSpPr/>
          <p:nvPr/>
        </p:nvSpPr>
        <p:spPr>
          <a:xfrm>
            <a:off x="640080" y="274320"/>
            <a:ext cx="2926080" cy="2926080"/>
          </a:xfrm>
          <a:prstGeom prst="ellipse">
            <a:avLst/>
          </a:prstGeom>
          <a:solidFill>
            <a:srgbClr val="0E7C7B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3"/>
          <p:cNvSpPr/>
          <p:nvPr/>
        </p:nvSpPr>
        <p:spPr>
          <a:xfrm>
            <a:off x="6906490" y="2972492"/>
            <a:ext cx="1828800" cy="1828800"/>
          </a:xfrm>
          <a:prstGeom prst="ellipse">
            <a:avLst/>
          </a:prstGeom>
          <a:solidFill>
            <a:srgbClr val="F4A261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3"/>
          <p:cNvSpPr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SECTION 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3"/>
          <p:cNvSpPr/>
          <p:nvPr/>
        </p:nvSpPr>
        <p:spPr>
          <a:xfrm>
            <a:off x="640080" y="1920240"/>
            <a:ext cx="78638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Sampling &amp; Distributions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3"/>
          <p:cNvSpPr/>
          <p:nvPr/>
        </p:nvSpPr>
        <p:spPr>
          <a:xfrm>
            <a:off x="640080" y="320040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CAF9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90CAF9"/>
                </a:solidFill>
                <a:latin typeface="Calibri"/>
                <a:ea typeface="Calibri"/>
                <a:cs typeface="Calibri"/>
                <a:sym typeface="Calibri"/>
              </a:rPr>
              <a:t>Normal Distribution, CLT &amp; Sampling Methods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4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B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4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Normal Distribution — The Bell Curve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4"/>
          <p:cNvSpPr/>
          <p:nvPr/>
        </p:nvSpPr>
        <p:spPr>
          <a:xfrm>
            <a:off x="457200" y="82296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The most important distribution in statistics — symmetric, bell-shaped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Defined by two parameters: Mean (μ) determines the centre, SD (σ) determines the width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The 68-95-99.7 Rule (Empirical Rule):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   68% of values lie within 1σ of the mean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   95% of values lie within 2σ of the mean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   99.7% of values lie within 3σ of the mean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Z-score: Z = (x − μ) / σ  — how many standard deviations from the mean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💼 Salary within 2σ of mean is 'normal' — beyond that is unusual/worth investigating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5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B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5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Central Limit Theorem — Why Statistics Works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5"/>
          <p:cNvSpPr/>
          <p:nvPr/>
        </p:nvSpPr>
        <p:spPr>
          <a:xfrm>
            <a:off x="457200" y="82296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The Central Limit Theorem (CLT) is one of the most important results in all of statistics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CLT States: if you take repeated samples of size n from ANY distribution, the distribution of SAMPLE MEANS approaches a normal distribution as n increases (typically n ≥ 30)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Why this matters: even if individual data (e.g. sales) is skewed, the distribution of AVERAGE sales across many samples will be approximately normal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This is what allows us to use normal-distribution-based tests (t-test, z-test) on real business data that isn't perfectly normal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Standard Error (SE) = σ / √n  — how spread out sample means are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Larger sample → smaller SE → more precise estimate of the true population mean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6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B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6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Common Distributions &amp; When to Use Them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82" name="Google Shape;282;p26"/>
          <p:cNvGraphicFramePr/>
          <p:nvPr/>
        </p:nvGraphicFramePr>
        <p:xfrm>
          <a:off x="457200" y="8229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{D61C25B9-F9FE-4B2E-93E8-C27FEF1F0ACC}</a:tableStyleId>
              </a:tblPr>
              <a:tblGrid>
                <a:gridCol w="1718475"/>
                <a:gridCol w="1890325"/>
                <a:gridCol w="2577725"/>
                <a:gridCol w="240587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Distribution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Shape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 When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Business Example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7B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Normal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Symmetric bell curve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Continuous data, large n, CLT applies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Heights, exam scores, measurement errors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Skewed Right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Long tail to the right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Income, prices, order values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Salary data, revenue per customer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4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Binomial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Discrete, two outcomes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 trials, each with P(success) = p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P(5 of 20 customers convert), defect rates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Poisson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Discrete, count of events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Count of events in fixed time/space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Orders per hour, website visits per minute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4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Uniform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Flat — all equally likely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Random selection, simulation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Random product recommendation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7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B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7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Sampling Methods — How to Choose Your Data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7"/>
          <p:cNvSpPr/>
          <p:nvPr/>
        </p:nvSpPr>
        <p:spPr>
          <a:xfrm>
            <a:off x="457200" y="82296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We almost never have ALL the data — we sample from a population to make inferences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Simple Random Sampling: every member has equal probability of selection — most unbiased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Stratified Sampling: divide into subgroups (strata), then randomly sample from each — ensures representation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Cluster Sampling: randomly select groups (clusters) then sample all within — practical for geographic data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Systematic Sampling: every Nth record (e.g. every 10th order) — easy but can miss patterns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Sample Size matters: larger n → lower SE → more reliable estimates. Rule of thumb: n ≥ 30 for CLT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💼 RetailMax: use SQL RANDOM() to take a 10% random sample for exploratory analysis on large tables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2B3E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8"/>
          <p:cNvSpPr/>
          <p:nvPr/>
        </p:nvSpPr>
        <p:spPr>
          <a:xfrm>
            <a:off x="203661" y="274320"/>
            <a:ext cx="2926080" cy="2926080"/>
          </a:xfrm>
          <a:prstGeom prst="ellipse">
            <a:avLst/>
          </a:prstGeom>
          <a:solidFill>
            <a:srgbClr val="0E7C7B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8"/>
          <p:cNvSpPr/>
          <p:nvPr/>
        </p:nvSpPr>
        <p:spPr>
          <a:xfrm>
            <a:off x="7001740" y="3108960"/>
            <a:ext cx="1828800" cy="1828800"/>
          </a:xfrm>
          <a:prstGeom prst="ellipse">
            <a:avLst/>
          </a:prstGeom>
          <a:solidFill>
            <a:srgbClr val="F4A261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28"/>
          <p:cNvSpPr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SECTION 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8"/>
          <p:cNvSpPr/>
          <p:nvPr/>
        </p:nvSpPr>
        <p:spPr>
          <a:xfrm>
            <a:off x="640080" y="1920240"/>
            <a:ext cx="78638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Hypothesis Testing — t-Test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8"/>
          <p:cNvSpPr/>
          <p:nvPr/>
        </p:nvSpPr>
        <p:spPr>
          <a:xfrm>
            <a:off x="640080" y="320040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CAF9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90CAF9"/>
                </a:solidFill>
                <a:latin typeface="Calibri"/>
                <a:ea typeface="Calibri"/>
                <a:cs typeface="Calibri"/>
                <a:sym typeface="Calibri"/>
              </a:rPr>
              <a:t>Is the Difference Real or Just Random Chance?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9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B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9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Logic of Hypothesis Testing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9"/>
          <p:cNvSpPr/>
          <p:nvPr/>
        </p:nvSpPr>
        <p:spPr>
          <a:xfrm>
            <a:off x="457200" y="82296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Hypothesis testing answers: 'Is what I'm seeing in the data real, or could it be random chance?'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The framework has 5 steps — always follow them in order: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  Step 1: State H₀ (Null Hypothesis) — the 'nothing is happening' default assumption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  Step 2: State H₁ (Alternative Hypothesis) — what you're trying to prove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  Step 3: Choose significance level α (usually 0.05 = 5% error tolerance)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  Step 4: Calculate the test statistic and find the p-value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  Step 5: If p-value &lt; α → Reject H₀ (result is statistically significant). Otherwise → Fail to Reject H₀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⚠️ 'Fail to reject H₀' does NOT mean H₀ is true — only that we lacked enough evidence to disprove it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30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One-Sample t-Test — Testing a Mean Against a Target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30"/>
          <p:cNvSpPr/>
          <p:nvPr/>
        </p:nvSpPr>
        <p:spPr>
          <a:xfrm>
            <a:off x="365760" y="822960"/>
            <a:ext cx="8412480" cy="749808"/>
          </a:xfrm>
          <a:prstGeom prst="roundRect">
            <a:avLst>
              <a:gd fmla="val 6098" name="adj"/>
            </a:avLst>
          </a:prstGeom>
          <a:solidFill>
            <a:srgbClr val="0D2B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30"/>
          <p:cNvSpPr/>
          <p:nvPr/>
        </p:nvSpPr>
        <p:spPr>
          <a:xfrm>
            <a:off x="548640" y="868680"/>
            <a:ext cx="80467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H₀: μ = μ₀  (population mean equals a target value)    H₁: μ ≠ μ₀  (mean differs from target)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30"/>
          <p:cNvSpPr/>
          <p:nvPr/>
        </p:nvSpPr>
        <p:spPr>
          <a:xfrm>
            <a:off x="365760" y="1627632"/>
            <a:ext cx="8412480" cy="749808"/>
          </a:xfrm>
          <a:prstGeom prst="roundRect">
            <a:avLst>
              <a:gd fmla="val 6098" name="adj"/>
            </a:avLst>
          </a:prstGeom>
          <a:solidFill>
            <a:srgbClr val="0D2B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30"/>
          <p:cNvSpPr/>
          <p:nvPr/>
        </p:nvSpPr>
        <p:spPr>
          <a:xfrm>
            <a:off x="548640" y="1673352"/>
            <a:ext cx="80467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t = (x̄ − μ₀) / (s / √n)   |   df = n − 1   |   where s = sample std dev, n = sample size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30"/>
          <p:cNvSpPr/>
          <p:nvPr/>
        </p:nvSpPr>
        <p:spPr>
          <a:xfrm>
            <a:off x="365760" y="2432303"/>
            <a:ext cx="8412480" cy="749808"/>
          </a:xfrm>
          <a:prstGeom prst="roundRect">
            <a:avLst>
              <a:gd fmla="val 6098" name="adj"/>
            </a:avLst>
          </a:prstGeom>
          <a:solidFill>
            <a:srgbClr val="0D2B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30"/>
          <p:cNvSpPr/>
          <p:nvPr/>
        </p:nvSpPr>
        <p:spPr>
          <a:xfrm>
            <a:off x="548640" y="2478024"/>
            <a:ext cx="80467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Python: from scipy.stats import ttest_1samp  |  ttest_1samp(orders['revenue'], 12000)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30"/>
          <p:cNvSpPr/>
          <p:nvPr/>
        </p:nvSpPr>
        <p:spPr>
          <a:xfrm>
            <a:off x="457200" y="3346704"/>
            <a:ext cx="822960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Numerator: how far our sample mean is from the target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Denominator (standard error): accounts for sample size — larger n = more certain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The larger |t|, the more evidence against H₀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Compare t to critical value from t-table at df = n-1 and α = 0.05, OR compare p-value to 0.05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💼 RetailMax: Is the average order value really Rs.12,000 as management claims? Test using order data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Python one-liner: from scipy.stats import ttest_1samp  |  ttest_1samp(orders['revenue'], 12000)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3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Two-Sample t-Test — Comparing Two Groups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31"/>
          <p:cNvSpPr/>
          <p:nvPr/>
        </p:nvSpPr>
        <p:spPr>
          <a:xfrm>
            <a:off x="365760" y="822960"/>
            <a:ext cx="8412480" cy="685800"/>
          </a:xfrm>
          <a:prstGeom prst="roundRect">
            <a:avLst>
              <a:gd fmla="val 6667" name="adj"/>
            </a:avLst>
          </a:prstGeom>
          <a:solidFill>
            <a:srgbClr val="0D2B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31"/>
          <p:cNvSpPr/>
          <p:nvPr/>
        </p:nvSpPr>
        <p:spPr>
          <a:xfrm>
            <a:off x="548640" y="868680"/>
            <a:ext cx="8046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H₀: μ₁ = μ₂  (the two groups have the same mean)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31"/>
          <p:cNvSpPr/>
          <p:nvPr/>
        </p:nvSpPr>
        <p:spPr>
          <a:xfrm>
            <a:off x="365760" y="1563624"/>
            <a:ext cx="8412480" cy="685800"/>
          </a:xfrm>
          <a:prstGeom prst="roundRect">
            <a:avLst>
              <a:gd fmla="val 6667" name="adj"/>
            </a:avLst>
          </a:prstGeom>
          <a:solidFill>
            <a:srgbClr val="0D2B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1"/>
          <p:cNvSpPr/>
          <p:nvPr/>
        </p:nvSpPr>
        <p:spPr>
          <a:xfrm>
            <a:off x="548640" y="1609344"/>
            <a:ext cx="8046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H₁: μ₁ ≠ μ₂  (the means are significantly different)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31"/>
          <p:cNvSpPr/>
          <p:nvPr/>
        </p:nvSpPr>
        <p:spPr>
          <a:xfrm>
            <a:off x="365760" y="2304288"/>
            <a:ext cx="8412480" cy="685800"/>
          </a:xfrm>
          <a:prstGeom prst="roundRect">
            <a:avLst>
              <a:gd fmla="val 6667" name="adj"/>
            </a:avLst>
          </a:prstGeom>
          <a:solidFill>
            <a:srgbClr val="0D2B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31"/>
          <p:cNvSpPr/>
          <p:nvPr/>
        </p:nvSpPr>
        <p:spPr>
          <a:xfrm>
            <a:off x="548640" y="2350008"/>
            <a:ext cx="8046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t = (x̄₁ − x̄₂) / √[s₁²/n₁ + s₂²/n₂]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31"/>
          <p:cNvSpPr/>
          <p:nvPr/>
        </p:nvSpPr>
        <p:spPr>
          <a:xfrm>
            <a:off x="365760" y="3044952"/>
            <a:ext cx="8412480" cy="685800"/>
          </a:xfrm>
          <a:prstGeom prst="roundRect">
            <a:avLst>
              <a:gd fmla="val 6667" name="adj"/>
            </a:avLst>
          </a:prstGeom>
          <a:solidFill>
            <a:srgbClr val="0D2B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1"/>
          <p:cNvSpPr/>
          <p:nvPr/>
        </p:nvSpPr>
        <p:spPr>
          <a:xfrm>
            <a:off x="548640" y="3090672"/>
            <a:ext cx="8046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Python: from scipy.stats import ttest_ind  |  ttest_ind(group1, group2)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31"/>
          <p:cNvSpPr/>
          <p:nvPr/>
        </p:nvSpPr>
        <p:spPr>
          <a:xfrm>
            <a:off x="457200" y="3895343"/>
            <a:ext cx="8229600" cy="950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Independent samples t-test: the two groups are separate (different customers, different products)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Paired t-test: before/after on the SAME subjects — e.g. customer spend before vs after loyalty programme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Always check assumptions: both groups roughly normal (or n ≥ 30), variances comparable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💼 RetailMax: Do Corporate customers spend significantly more per order than SME customers?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💼 A/B Test: Did the new product page increase conversion rate vs the old page?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Effect size (Cohen's d) = |μ₁ − μ₂| / pooled SD — tells you PRACTICAL significance, not just statistical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B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3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Type I &amp; Type II Errors — What Can Go Wrong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46" name="Google Shape;346;p32"/>
          <p:cNvGraphicFramePr/>
          <p:nvPr/>
        </p:nvGraphicFramePr>
        <p:xfrm>
          <a:off x="457200" y="8229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{D61C25B9-F9FE-4B2E-93E8-C27FEF1F0ACC}</a:tableStyleId>
              </a:tblPr>
              <a:tblGrid>
                <a:gridCol w="1828800"/>
                <a:gridCol w="3657600"/>
                <a:gridCol w="365760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H₀ is actually TRUE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H₀ is actually FALSE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7B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Reject H₀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(p &lt; 0.05)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 Type I Error (False Positive)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α = probability of this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Usually set to 0.05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✅ Correct Decision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(True Positive)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1−β = Statistical Power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Fail to Reject H₀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(p ≥ 0.05)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✅ Correct Decision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(True Negative)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 Type II Error (False Negative)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β = probability of this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Lower with larger sample size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2B3E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3"/>
          <p:cNvSpPr/>
          <p:nvPr/>
        </p:nvSpPr>
        <p:spPr>
          <a:xfrm>
            <a:off x="-731520" y="-731520"/>
            <a:ext cx="2926080" cy="2926080"/>
          </a:xfrm>
          <a:prstGeom prst="ellipse">
            <a:avLst/>
          </a:prstGeom>
          <a:solidFill>
            <a:srgbClr val="0E7C7B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33"/>
          <p:cNvSpPr/>
          <p:nvPr/>
        </p:nvSpPr>
        <p:spPr>
          <a:xfrm>
            <a:off x="7772400" y="3474720"/>
            <a:ext cx="1828800" cy="1828800"/>
          </a:xfrm>
          <a:prstGeom prst="ellipse">
            <a:avLst/>
          </a:prstGeom>
          <a:solidFill>
            <a:srgbClr val="F4A261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33"/>
          <p:cNvSpPr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SECTION 7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33"/>
          <p:cNvSpPr/>
          <p:nvPr/>
        </p:nvSpPr>
        <p:spPr>
          <a:xfrm>
            <a:off x="640080" y="1920240"/>
            <a:ext cx="78638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Hypothesis Testing — Chi-Square Test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33"/>
          <p:cNvSpPr/>
          <p:nvPr/>
        </p:nvSpPr>
        <p:spPr>
          <a:xfrm>
            <a:off x="640080" y="320040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CAF9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90CAF9"/>
                </a:solidFill>
                <a:latin typeface="Calibri"/>
                <a:ea typeface="Calibri"/>
                <a:cs typeface="Calibri"/>
                <a:sym typeface="Calibri"/>
              </a:rPr>
              <a:t>Testing Categorical Relationships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4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B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34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When to Use Chi-Square vs t-Test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34"/>
          <p:cNvSpPr/>
          <p:nvPr/>
        </p:nvSpPr>
        <p:spPr>
          <a:xfrm>
            <a:off x="457200" y="82296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t-Test: used when comparing MEANS of numeric data (salary, revenue, age, price)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Chi-Square (χ²) Test: used when comparing FREQUENCIES or PROPORTIONS of categorical data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Two types of chi-square tests: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  1. Goodness-of-Fit: Does an observed distribution match a theoretical/expected one?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  2. Test of Independence: Are two categorical variables related, or independent?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💼 RetailMax uses for Chi-Square: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   • Is product category purchased independent of customer region?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   • Is order status (Completed/Cancelled) related to customer segment?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   • Does the distribution of orders across regions match the expected proportions?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5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35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Chi-Square Test of Independence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35"/>
          <p:cNvSpPr/>
          <p:nvPr/>
        </p:nvSpPr>
        <p:spPr>
          <a:xfrm>
            <a:off x="365760" y="822960"/>
            <a:ext cx="8412480" cy="749808"/>
          </a:xfrm>
          <a:prstGeom prst="roundRect">
            <a:avLst>
              <a:gd fmla="val 6098" name="adj"/>
            </a:avLst>
          </a:prstGeom>
          <a:solidFill>
            <a:srgbClr val="0D2B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35"/>
          <p:cNvSpPr/>
          <p:nvPr/>
        </p:nvSpPr>
        <p:spPr>
          <a:xfrm>
            <a:off x="548640" y="868680"/>
            <a:ext cx="80467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H₀: The two variables are INDEPENDENT   H₁: The two variables are NOT independent (related)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35"/>
          <p:cNvSpPr/>
          <p:nvPr/>
        </p:nvSpPr>
        <p:spPr>
          <a:xfrm>
            <a:off x="365760" y="1627632"/>
            <a:ext cx="8412480" cy="749808"/>
          </a:xfrm>
          <a:prstGeom prst="roundRect">
            <a:avLst>
              <a:gd fmla="val 6098" name="adj"/>
            </a:avLst>
          </a:prstGeom>
          <a:solidFill>
            <a:srgbClr val="0D2B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35"/>
          <p:cNvSpPr/>
          <p:nvPr/>
        </p:nvSpPr>
        <p:spPr>
          <a:xfrm>
            <a:off x="548640" y="1673352"/>
            <a:ext cx="80467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χ² = Σ [ (Observed − Expected)² / Expected ]    |    Expected = (Row Total × Col Total) / Grand Total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35"/>
          <p:cNvSpPr/>
          <p:nvPr/>
        </p:nvSpPr>
        <p:spPr>
          <a:xfrm>
            <a:off x="365760" y="2432303"/>
            <a:ext cx="8412480" cy="749808"/>
          </a:xfrm>
          <a:prstGeom prst="roundRect">
            <a:avLst>
              <a:gd fmla="val 6098" name="adj"/>
            </a:avLst>
          </a:prstGeom>
          <a:solidFill>
            <a:srgbClr val="0D2B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35"/>
          <p:cNvSpPr/>
          <p:nvPr/>
        </p:nvSpPr>
        <p:spPr>
          <a:xfrm>
            <a:off x="548640" y="2478024"/>
            <a:ext cx="80467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df = (rows−1)×(cols−1)  |  Python: chi2, p, df, expected = chi2_contingency(contingency_table)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35"/>
          <p:cNvSpPr/>
          <p:nvPr/>
        </p:nvSpPr>
        <p:spPr>
          <a:xfrm>
            <a:off x="457200" y="3346704"/>
            <a:ext cx="822960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Build a contingency table: rows = one category (e.g. Region), columns = another (e.g. Order Status)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If p &lt; 0.05: reject H₀ — the two variables ARE related (not independent)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If p ≥ 0.05: fail to reject H₀ — no significant evidence of a relationship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Cramer's V: √(χ²/n / min(rows-1, cols-1)) — measures strength of association (0-1 scale)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⚠️ Assumption: Expected count ≥ 5 for at least 80% of cells — merge small categories if needed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6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B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36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Chi-Square Test — Worked Example (RetailMax)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86" name="Google Shape;386;p36"/>
          <p:cNvGraphicFramePr/>
          <p:nvPr/>
        </p:nvGraphicFramePr>
        <p:xfrm>
          <a:off x="457200" y="8229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{D61C25B9-F9FE-4B2E-93E8-C27FEF1F0ACC}</a:tableStyleId>
              </a:tblPr>
              <a:tblGrid>
                <a:gridCol w="1645925"/>
                <a:gridCol w="1463050"/>
                <a:gridCol w="1463050"/>
                <a:gridCol w="1463050"/>
                <a:gridCol w="128015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Completed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Pending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Cancelled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Row Total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7B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North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South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4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East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West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4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 Total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525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715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2B3E"/>
        </a:soli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7"/>
          <p:cNvSpPr/>
          <p:nvPr/>
        </p:nvSpPr>
        <p:spPr>
          <a:xfrm>
            <a:off x="-731520" y="-731520"/>
            <a:ext cx="2926080" cy="2926080"/>
          </a:xfrm>
          <a:prstGeom prst="ellipse">
            <a:avLst/>
          </a:prstGeom>
          <a:solidFill>
            <a:srgbClr val="0E7C7B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37"/>
          <p:cNvSpPr/>
          <p:nvPr/>
        </p:nvSpPr>
        <p:spPr>
          <a:xfrm>
            <a:off x="7772400" y="3474720"/>
            <a:ext cx="1828800" cy="1828800"/>
          </a:xfrm>
          <a:prstGeom prst="ellipse">
            <a:avLst/>
          </a:prstGeom>
          <a:solidFill>
            <a:srgbClr val="F4A261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37"/>
          <p:cNvSpPr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SECTION 8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37"/>
          <p:cNvSpPr/>
          <p:nvPr/>
        </p:nvSpPr>
        <p:spPr>
          <a:xfrm>
            <a:off x="640080" y="1920240"/>
            <a:ext cx="78638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Hands-On Business Decision Analysis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37"/>
          <p:cNvSpPr/>
          <p:nvPr/>
        </p:nvSpPr>
        <p:spPr>
          <a:xfrm>
            <a:off x="640080" y="320040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CAF9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90CAF9"/>
                </a:solidFill>
                <a:latin typeface="Calibri"/>
                <a:ea typeface="Calibri"/>
                <a:cs typeface="Calibri"/>
                <a:sym typeface="Calibri"/>
              </a:rPr>
              <a:t>Applying Stats to Real RetailMax Problems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8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B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38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5-Step Statistical Decision Framework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38"/>
          <p:cNvSpPr/>
          <p:nvPr/>
        </p:nvSpPr>
        <p:spPr>
          <a:xfrm>
            <a:off x="457200" y="82296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Step 1: Define the Business Question — what decision needs to be made?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Step 2: Identify the Data — which variables are relevant? What type are they? (numeric/categorical)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Step 3: Explore (EDA) — mean, median, SD, histograms, correlations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Step 4: Choose and Run the Right Statistical Test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Step 5: Interpret Results and Make a Business Recommendation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The most common mistake: skipping straight to a test without understanding the data first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Always ask: Is the sample large enough? Is the data distribution appropriate for the test?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9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B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39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Case Study 1 — Is the Average Order Value Declining?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39"/>
          <p:cNvSpPr/>
          <p:nvPr/>
        </p:nvSpPr>
        <p:spPr>
          <a:xfrm>
            <a:off x="457200" y="82296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Business Question: Management claims the average order value target is Rs.12,000. Is the current performance significantly below target?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Step 1: H₀: μ = 12000    H₁: μ &lt; 12000  (one-tailed t-test)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Step 2: Calculate from retailmax: SELECT AVG(quantity*unit_price*(1-discount)), STDDEV(...), COUNT(*) FROM order_items JOIN orders ...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Step 3: Compute t = (x̄ − 12000) / (s / √n)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Step 4: If p &lt; 0.05 → significant shortfall → escalate to pricing review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Step 5: Business Recommendation: if significant, investigate top product categories dragging the average down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Extension: break by region — does any specific region drive the shortfall?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B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40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Case Study 2 — Does Discount Drive Volume?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40"/>
          <p:cNvSpPr/>
          <p:nvPr/>
        </p:nvSpPr>
        <p:spPr>
          <a:xfrm>
            <a:off x="457200" y="82296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Business Question: Should RetailMax increase discounts to drive quantity sold?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Step 1: Scatter plot of discount % vs quantity ordered — look for a pattern visually first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Step 2: Compute Pearson r = CORR(discount, quantity) in PostgreSQL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Step 3: Run simple linear regression: quantity = β₀ + β₁ × discount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Step 4: Check R², slope, and p-value. If slope significant and positive → discounts DO drive volume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Step 5: Business Recommendation: If r &gt; 0.5 and slope is significant, a 5% discount increase is expected to raise quantity by β₁ × 5 units per order — calculate revenue impact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⚠️ Even if significant: check whether revenue per order increases or decreases (volume gain vs margin loss)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B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4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Case Study 3 — Regional Performance Difference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41"/>
          <p:cNvSpPr/>
          <p:nvPr/>
        </p:nvSpPr>
        <p:spPr>
          <a:xfrm>
            <a:off x="457200" y="82296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Business Question: Is there a statistically significant difference in average order revenue across regions?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Test: One-way ANOVA (extends t-test to 3+ groups) — compare North, South, East, West simultaneously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H₀: μ_North = μ_South = μ_East = μ_West  (all regions have the same mean revenue)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H₁: At least one region has a significantly different mean revenue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Python: from scipy.stats import f_oneway  |  f_oneway(north, south, east, west)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If p &lt; 0.05: run post-hoc Tukey test to identify WHICH pairs differ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Business Recommendation: if North has significantly higher revenue, investigate what's working there — staffing? Customer mix? Marketing? Apply learnings to underperforming regions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B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4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Case Study 4 — Customer Segment vs Order Status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42"/>
          <p:cNvSpPr/>
          <p:nvPr/>
        </p:nvSpPr>
        <p:spPr>
          <a:xfrm>
            <a:off x="457200" y="82296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Business Question: Are certain customer segments more likely to cancel orders? Does cancellation rate depend on segment?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Test: Chi-Square Test of Independence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Variables: Customer Segment (Corporate/SME/Government/Retail/Online) × Order Status (Completed/Pending/Cancelled)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Step 1: Build contingency table in SQL (GROUP BY segment, status)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Step 2: Apply chi2_contingency in Python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Step 3: If p &lt; 0.05 → segment and status ARE related → cancellation rate differs by segment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Step 4: Calculate cancellation rate per segment → identify high-risk segments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Business Recommendation: for segments with high cancellation, investigate root cause — delivery issues? Payment friction? Product fit? Consider targeted interventions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2B3E"/>
        </a:solidFill>
      </p:bgPr>
    </p:bg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3"/>
          <p:cNvSpPr/>
          <p:nvPr/>
        </p:nvSpPr>
        <p:spPr>
          <a:xfrm>
            <a:off x="298911" y="182879"/>
            <a:ext cx="2926080" cy="2926080"/>
          </a:xfrm>
          <a:prstGeom prst="ellipse">
            <a:avLst/>
          </a:prstGeom>
          <a:solidFill>
            <a:srgbClr val="0E7C7B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43"/>
          <p:cNvSpPr/>
          <p:nvPr/>
        </p:nvSpPr>
        <p:spPr>
          <a:xfrm>
            <a:off x="7131627" y="3200400"/>
            <a:ext cx="1828800" cy="1828800"/>
          </a:xfrm>
          <a:prstGeom prst="ellipse">
            <a:avLst/>
          </a:prstGeom>
          <a:solidFill>
            <a:srgbClr val="F4A261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43"/>
          <p:cNvSpPr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SECTION 9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43"/>
          <p:cNvSpPr/>
          <p:nvPr/>
        </p:nvSpPr>
        <p:spPr>
          <a:xfrm>
            <a:off x="640080" y="1920240"/>
            <a:ext cx="78638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Interview Questions &amp; Common Mistakes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43"/>
          <p:cNvSpPr/>
          <p:nvPr/>
        </p:nvSpPr>
        <p:spPr>
          <a:xfrm>
            <a:off x="640080" y="320040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CAF9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90CAF9"/>
                </a:solidFill>
                <a:latin typeface="Calibri"/>
                <a:ea typeface="Calibri"/>
                <a:cs typeface="Calibri"/>
                <a:sym typeface="Calibri"/>
              </a:rPr>
              <a:t>20 Q&amp;A for Data Analyst Roles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4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B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44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Statistics Interview Questions — Part 1 (1-10)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54" name="Google Shape;454;p44"/>
          <p:cNvGraphicFramePr/>
          <p:nvPr/>
        </p:nvGraphicFramePr>
        <p:xfrm>
          <a:off x="457200" y="8229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{D61C25B9-F9FE-4B2E-93E8-C27FEF1F0ACC}</a:tableStyleId>
              </a:tblPr>
              <a:tblGrid>
                <a:gridCol w="428325"/>
                <a:gridCol w="2998250"/>
                <a:gridCol w="5139875"/>
              </a:tblGrid>
              <a:tr h="253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Question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Key Answer Points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7B"/>
                    </a:solidFill>
                  </a:tcPr>
                </a:tc>
              </a:tr>
              <a:tr h="390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When would you use mean vs median?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Mean for symmetric data without outliers; Median for skewed data or when outliers exist (income, house prices)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0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does standard deviation tell you?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How spread out values are from the mean. Low SD = consistent; High SD = variable/unpredictable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4"/>
                    </a:solidFill>
                  </a:tcPr>
                </a:tc>
              </a:tr>
              <a:tr h="390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Explain correlation vs causation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Correlation = two variables move together. Causation = one causes the other. Correlation never implies causation without a controlled experiment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0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is p-value?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Probability of observing results as extreme as ours, assuming H₀ is true. p &lt; 0.05 means results are unlikely under H₀ — reject H₀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4"/>
                    </a:solidFill>
                  </a:tcPr>
                </a:tc>
              </a:tr>
              <a:tr h="390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Type I vs Type II Error?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Type I: false positive — reject H₀ when it's true (controlled by α). Type II: false negative — fail to reject H₀ when it's false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0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is the Central Limit Theorem?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Sample means of large enough samples (n≥30) follow a normal distribution regardless of the underlying population distribution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4"/>
                    </a:solidFill>
                  </a:tcPr>
                </a:tc>
              </a:tr>
              <a:tr h="390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is R² in regression?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Proportion of variance in y explained by the model. R²=0.65 means the model explains 65% of the variation in y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0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When to use chi-square vs t-test?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Chi-square: compare frequencies in categorical variables. t-test: compare means of numeric variables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4"/>
                    </a:solidFill>
                  </a:tcPr>
                </a:tc>
              </a:tr>
              <a:tr h="390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is statistical significance?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 result is statistically significant if it's unlikely to have occurred by chance (p &lt; 0.05 under H₀)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0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Explain the Normal Distribution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Symmetric bell curve defined by mean (μ) and SD (σ). 68-95-99.7% of values lie within 1-2-3 SDs of the mean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45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B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45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Statistics Interview Questions — Part 2 (11-20)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62" name="Google Shape;462;p45"/>
          <p:cNvGraphicFramePr/>
          <p:nvPr/>
        </p:nvGraphicFramePr>
        <p:xfrm>
          <a:off x="457200" y="8229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{D61C25B9-F9FE-4B2E-93E8-C27FEF1F0ACC}</a:tableStyleId>
              </a:tblPr>
              <a:tblGrid>
                <a:gridCol w="424850"/>
                <a:gridCol w="2549150"/>
                <a:gridCol w="5523175"/>
              </a:tblGrid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Question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Key Answer Points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7B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is a confidence interval?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 range of values within which the true population parameter likely falls, with a given confidence level (e.g. 95% CI means if we repeated the study 100x, 95 intervals would contain the true value)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is sampling bias?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When the sample is not representative of the population — leads to incorrect conclusions. Example: surveying only online customers misses in-store behaviour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4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How would you detect outliers?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IQR method (below Q1−1.5×IQR or above Q3+1.5×IQR), Z-score method (|z| &gt; 3), box plots, scatter plots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is variance?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Average of squared deviations from the mean. Measures how spread out the data is. Units are squared — take square root for standard deviation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4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is statistical power?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Probability of correctly rejecting H₀ when it is actually false (1-β). Higher power = less likely to miss a real effect. Increased by larger sample size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is overfitting in regression?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When the model fits the training data too well but fails on new data — it memorises noise rather than learning the true relationship. Use train/test split to detect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4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Explain simple linear regression assumptions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Linearity, independence of errors, homoscedasticity (equal variance of errors), normality of residuals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is the difference between population and sample?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Population = all members of the group you care about. Sample = a subset. Statistics from a sample estimate population parameters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4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is ANOVA?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Analysis of Variance — tests whether means of 3+ groups are significantly different. F-statistic compares between-group to within-group variance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would you do if data is not normally distributed?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 non-parametric tests (Mann-Whitney U instead of t-test, Kruskal-Wallis instead of ANOVA), transform the data (log, square root), or rely on CLT for large 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0CA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4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2B3E"/>
        </a:solidFill>
      </p:bgPr>
    </p:bg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46"/>
          <p:cNvSpPr/>
          <p:nvPr/>
        </p:nvSpPr>
        <p:spPr>
          <a:xfrm>
            <a:off x="143048" y="182880"/>
            <a:ext cx="2926080" cy="2926080"/>
          </a:xfrm>
          <a:prstGeom prst="ellipse">
            <a:avLst/>
          </a:prstGeom>
          <a:solidFill>
            <a:srgbClr val="0E7C7B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46"/>
          <p:cNvSpPr/>
          <p:nvPr/>
        </p:nvSpPr>
        <p:spPr>
          <a:xfrm>
            <a:off x="7131627" y="3200400"/>
            <a:ext cx="1828800" cy="1828800"/>
          </a:xfrm>
          <a:prstGeom prst="ellipse">
            <a:avLst/>
          </a:prstGeom>
          <a:solidFill>
            <a:srgbClr val="F4A261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46"/>
          <p:cNvSpPr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SECTION 10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46"/>
          <p:cNvSpPr/>
          <p:nvPr/>
        </p:nvSpPr>
        <p:spPr>
          <a:xfrm>
            <a:off x="640080" y="1920240"/>
            <a:ext cx="78638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Final Capstone Briefing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46"/>
          <p:cNvSpPr/>
          <p:nvPr/>
        </p:nvSpPr>
        <p:spPr>
          <a:xfrm>
            <a:off x="640080" y="320040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CAF9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90CAF9"/>
                </a:solidFill>
                <a:latin typeface="Calibri"/>
                <a:ea typeface="Calibri"/>
                <a:cs typeface="Calibri"/>
                <a:sym typeface="Calibri"/>
              </a:rPr>
              <a:t>Business Decision Analysis Using Stats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47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B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47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Module 4 Capstone — Statistical Business Analysis Report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47"/>
          <p:cNvSpPr/>
          <p:nvPr/>
        </p:nvSpPr>
        <p:spPr>
          <a:xfrm>
            <a:off x="457200" y="82296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Use the RetailMax retailmax database to answer 6 business questions with the correct statistical methods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TASK 1: Compute mean, median, SD for order revenue — comment on skewness and what it implies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TASK 2: Is the average salary of Engineering significantly higher than the company average? (one-sample t-test)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TASK 3: Do Corporate customers have significantly higher average order value than SME customers? (two-sample t-test)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TASK 4: Is product category purchased independent of customer region? (chi-square test)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TASK 5: Analyse correlation and regression between discount and order quantity — should discounts be increased?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TASK 6: Is there a significant difference in average revenue across all four regions? (ANOVA)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DELIVERABLE: A written report with each test's H₀, H₁, test statistic, p-value, decision, and business recommendation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2B3E"/>
        </a:solidFill>
      </p:bgPr>
    </p:bg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48"/>
          <p:cNvSpPr/>
          <p:nvPr/>
        </p:nvSpPr>
        <p:spPr>
          <a:xfrm>
            <a:off x="6583680" y="-914400"/>
            <a:ext cx="3657600" cy="3657600"/>
          </a:xfrm>
          <a:prstGeom prst="ellipse">
            <a:avLst/>
          </a:prstGeom>
          <a:solidFill>
            <a:srgbClr val="0E7C7B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48"/>
          <p:cNvSpPr/>
          <p:nvPr/>
        </p:nvSpPr>
        <p:spPr>
          <a:xfrm>
            <a:off x="-731520" y="3200400"/>
            <a:ext cx="2743200" cy="2743200"/>
          </a:xfrm>
          <a:prstGeom prst="ellipse">
            <a:avLst/>
          </a:prstGeom>
          <a:solidFill>
            <a:srgbClr val="F4A261">
              <a:alpha val="3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48"/>
          <p:cNvSpPr/>
          <p:nvPr/>
        </p:nvSpPr>
        <p:spPr>
          <a:xfrm>
            <a:off x="640080" y="13716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Module 4 Complete!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48"/>
          <p:cNvSpPr/>
          <p:nvPr/>
        </p:nvSpPr>
        <p:spPr>
          <a:xfrm>
            <a:off x="640080" y="242316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CAF9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0CAF9"/>
                </a:solidFill>
                <a:latin typeface="Calibri"/>
                <a:ea typeface="Calibri"/>
                <a:cs typeface="Calibri"/>
                <a:sym typeface="Calibri"/>
              </a:rPr>
              <a:t>You can now: Describe Data · Quantify Uncertainty · Test Hypotheses · Correlate Variables · Make Data-Driven Decisions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48"/>
          <p:cNvSpPr/>
          <p:nvPr/>
        </p:nvSpPr>
        <p:spPr>
          <a:xfrm>
            <a:off x="640080" y="310896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Next: Module 5 — Python for Advanced Analytics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2026-06-25T09:38:04Z</dcterms:created>
  <dc:creator>Senior Data Analytics Trainer</dc:creator>
</cp:coreProperties>
</file>