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084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students. This module builds directly on the Excel module — same RetailMax business scenario, now using SQL and a real PostgreSQL database. Confirm everyone has run setup_database.sql before starting.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agenda. Mention the cheat sheet handout covers all 14 sections on a single page for quick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0: Getting Started. Database Setup &amp; Schema Tour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Live run setup_database.sql on screen. Show the verification output. If students hit permission errors, check they connected to the right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table. Emphasize: PK = Primary Key (unique row identifier), FK = Foreign Key (link to another table's PK). employees.manager_id references employees.employee_id — a self-referencing FK, useful for hierarchy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1: Basic Queries. SELECT, FROM, WHERE,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Run SELECT * FROM customers LIMIT 5; first to show raw data. Then narrow to specific columns.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predict the row count before running. Then verify with COUNT(*).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SELECT full_name FROM employees WHERE manager_id IS NULL; — finds the 8 department heads. Show why = NULL returns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2: Sorting &amp; Limiting. ORDER BY, LIMIT, OFFSET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Run with and without DESC to show the difference. Then add a second sort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interview question: why is ORDER BY required before LIMIT for deterministic results? Without it, the database can return rows in any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3: Aggregations. COUNT, SUM, AVG, GROUP BY, HAVING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Run this on order_items. Then ask: 'What if I want this per region instead of overall?' — leads into GROUP BY.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query pattern in business analytics. Spend extra time here. Draw the 'group then aggregate' concept on the whiteboard.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execution order on the board. This is a VERY common interview question — make sure every student can recite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4: Joins. INNER, LEFT, RIGHT, FULL OUTER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two overlapping circles (Venn diagram) on the board — INNER JOIN = the overlap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Run with INNER JOIN first (customers with 0 orders disappear), then LEFT JOIN (they show with order_count=0). This contrast is the key teaching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4-quadrant Venn diagram: INNER (overlap), LEFT (left+overlap), RIGHT (right+overlap), FULL OUTER (everything).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5: Subqueries &amp; CTEs. Nested Queries, WITH Clause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'inside-out' reading: the database evaluates the innermost query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query result, then point out that a JOIN + GROUP BY could achieve the same thing — subqueries in SELECT are best for one-off lookups.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CTEs as 'naming your subquery so you can refer to it like a table'. Show the same logic with and without a CTE for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6: Window Functions. ROW_NUMBER, RANK, PARTITION BY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all 3 side by side with a tied salary value to make the difference visually obvious.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topic students find hardest. Use the dept_rank example live, then show the result with a department filter to make it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7: Conditional Logic. CASE WHEN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Excel: this is the SQL equivalent of nested IF formulas students wrote in Module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8: Data Manipulation (DML). INSERT, UPDATE, DELETE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STRONGLY emphasize the warning. Show what happens (conceptually) if WHERE is omitted from UPDATE — it updates EVERY row in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9: Table Operations (DDL). CREATE, ALTER, DROP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 back to setup_database.sql — every CREATE TABLE statement there follows this exact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10: String &amp; Date Functions. Text Manipulation and Dates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SELECT customer_name, INITCAP(LOWER(customer_name)) FROM customers LIMIT 5; — standardize messy name casing.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SELECT DATE_TRUNC('month', order_date) AS month, COUNT(*) FROM orders GROUP BY month ORDER BY month; — monthly order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11: Set Operations. UNION, INTERSECT, EXCEPT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EXCEPT example finds customers who have never placed an order — a classic business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12: Keys &amp; Indexes. Performance Fundamentals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 back to setup_database.sql Section 'Helpful indexes' — show the 6 indexes already created and explain why each was chosen.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Run EXPLAIN ANALYZE on a query with and without an index (conceptually) — show the 'Seq Scan' vs 'Index Scan' difference in the plan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check: ask students what NULL = NULL evaluates to (answer: NULL, not TRUE) — this trips up many beginners.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13: SQL Interview Questions. 20 Q&amp;A for Data Analyst Roles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should practise answering out loud, 90 seconds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should practise answering out loud, 90 seconds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 students up for mock interviews using these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Rotate roles after 10 minutes so everyone practises both asking and answering.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14: Final Project Briefing. Apply Everything You've Learned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Distribute the project brief (separate document). Walk through Task 4 live as an example since PARTITION BY is the hardest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students. Remind them the cheat sheet and study guide cover everything for revision. Share the project deadline.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33391" y="88710"/>
            <a:ext cx="3657600" cy="3657600"/>
          </a:xfrm>
          <a:prstGeom prst="ellipse">
            <a:avLst/>
          </a:prstGeom>
          <a:solidFill>
            <a:srgbClr val="1565C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6383" y="2263140"/>
            <a:ext cx="2743200" cy="2743200"/>
          </a:xfrm>
          <a:prstGeom prst="ellipse">
            <a:avLst/>
          </a:prstGeom>
          <a:solidFill>
            <a:srgbClr val="00B8D4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50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for Data Analysis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 smtClean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|</a:t>
            </a:r>
            <a:r>
              <a:rPr lang="en-US" sz="14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Database: </a:t>
            </a:r>
            <a:r>
              <a:rPr lang="en-US" sz="1400" dirty="0" err="1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retailmax</a:t>
            </a:r>
            <a:r>
              <a:rPr lang="en-US" sz="14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6 Tables  |  ~2,200 Rows  |  Continues from Module 2 (Excel)</a:t>
            </a:r>
            <a:r>
              <a:rPr lang="en-US" sz="1400" dirty="0" smtClean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14 Sections, Hands-On Throughout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Basic Queries — SELECT, FROM, WHERE, operators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Sorting &amp; Limiting — ORDER BY, LIMIT/OFFSET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Aggregations — COUNT, SUM, AVG, GROUP BY, HAVING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Joins — INNER, LEFT, RIGHT, FULL OUTER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5: Subqueries &amp; CTEs — nested queries, WITH clause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6: Window Functions — ROW_NUMBER, RANK, PARTITION BY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7: Conditional Logic — CASE WHEN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8: Data Manipulation (DML) — INSERT, UPDATE, DELETE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9: Table Operations (DDL) — CREATE, ALTER, DROP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10: String &amp; Date Functions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11: Set Operations — UNION, INTERSECT, EXCEPT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12: Keys &amp; Indexes — performance fundamentals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13: Capstone Walkthrough + Interview Questions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14: Final Project Briefing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994" y="91440"/>
            <a:ext cx="2743200" cy="2743200"/>
          </a:xfrm>
          <a:prstGeom prst="ellipse">
            <a:avLst/>
          </a:prstGeom>
          <a:solidFill>
            <a:srgbClr val="1565C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757006" y="2743200"/>
            <a:ext cx="2286000" cy="2286000"/>
          </a:xfrm>
          <a:prstGeom prst="ellipse">
            <a:avLst/>
          </a:prstGeom>
          <a:solidFill>
            <a:srgbClr val="00B8D4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Setup &amp; Schema Tour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Your Database (5 Minutes)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Install PostgreSQL </a:t>
            </a:r>
            <a:r>
              <a:rPr lang="en-US" sz="1400" dirty="0" smtClean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(Refer : Installation Doc – Share on Initial Session)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 smtClean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Open a SQL client: psql, pgAdmin, </a:t>
            </a:r>
            <a:r>
              <a:rPr lang="en-US" sz="1400" dirty="0" err="1" smtClean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Dbeaver</a:t>
            </a:r>
            <a:r>
              <a:rPr lang="en-US" sz="1400" dirty="0" smtClean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Create a fresh database:  CREATE DATABASE retailmax;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Connect:  \c retailmax   (psql) or select 'retailmax' in your GUI tool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Open setup_database.sql and run the ENTIRE script — it is self-contained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The script DROPs any existing tables, recreates 6 tables, and loads ~2,200 rows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Run the verification query at the bottom — you should see row counts for all 6 tables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You're ready! Every example in this module runs against this database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RetailMax Database — Entity Relationship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691640" cy="1417320"/>
          </a:xfrm>
          <a:prstGeom prst="roundRect">
            <a:avLst>
              <a:gd name="adj" fmla="val 3871"/>
            </a:avLst>
          </a:prstGeom>
          <a:solidFill>
            <a:srgbClr val="EFF8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691640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1243584"/>
            <a:ext cx="154533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department_id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department_name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40280" y="914400"/>
            <a:ext cx="1783080" cy="1691640"/>
          </a:xfrm>
          <a:prstGeom prst="roundRect">
            <a:avLst>
              <a:gd name="adj" fmla="val 3243"/>
            </a:avLst>
          </a:prstGeom>
          <a:solidFill>
            <a:srgbClr val="EFF8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40280" y="914400"/>
            <a:ext cx="1783080" cy="292608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10" name="Text 8"/>
          <p:cNvSpPr/>
          <p:nvPr/>
        </p:nvSpPr>
        <p:spPr>
          <a:xfrm>
            <a:off x="2240280" y="9144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13432" y="1243584"/>
            <a:ext cx="163677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employee_id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full_name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department_id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designation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hire_date, salary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manager_id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0" y="914400"/>
            <a:ext cx="1783080" cy="1691640"/>
          </a:xfrm>
          <a:prstGeom prst="roundRect">
            <a:avLst>
              <a:gd name="adj" fmla="val 3243"/>
            </a:avLst>
          </a:prstGeom>
          <a:solidFill>
            <a:srgbClr val="EFF8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914400"/>
            <a:ext cx="1783080" cy="29260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9144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70832" y="1243584"/>
            <a:ext cx="163677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customer_id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customer_name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email, city, state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region, segment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signup_date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55080" y="914400"/>
            <a:ext cx="1691640" cy="1417320"/>
          </a:xfrm>
          <a:prstGeom prst="roundRect">
            <a:avLst>
              <a:gd name="adj" fmla="val 3871"/>
            </a:avLst>
          </a:prstGeom>
          <a:solidFill>
            <a:srgbClr val="EFF8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914400"/>
            <a:ext cx="1691640" cy="29260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9144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28232" y="1243584"/>
            <a:ext cx="154533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product_id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product_name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unit_price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cost_price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40280" y="2926080"/>
            <a:ext cx="1783080" cy="1417320"/>
          </a:xfrm>
          <a:prstGeom prst="roundRect">
            <a:avLst>
              <a:gd name="adj" fmla="val 3871"/>
            </a:avLst>
          </a:prstGeom>
          <a:solidFill>
            <a:srgbClr val="EFF8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40280" y="2926080"/>
            <a:ext cx="1783080" cy="29260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2" name="Text 20"/>
          <p:cNvSpPr/>
          <p:nvPr/>
        </p:nvSpPr>
        <p:spPr>
          <a:xfrm>
            <a:off x="2240280" y="29260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13432" y="3255264"/>
            <a:ext cx="163677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order_id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customer_id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employee_id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order_date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status, region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97680" y="2926080"/>
            <a:ext cx="1783080" cy="1417320"/>
          </a:xfrm>
          <a:prstGeom prst="roundRect">
            <a:avLst>
              <a:gd name="adj" fmla="val 3871"/>
            </a:avLst>
          </a:prstGeom>
          <a:solidFill>
            <a:srgbClr val="EFF8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97680" y="2926080"/>
            <a:ext cx="1783080" cy="29260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6" name="Text 24"/>
          <p:cNvSpPr/>
          <p:nvPr/>
        </p:nvSpPr>
        <p:spPr>
          <a:xfrm>
            <a:off x="4297680" y="29260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70832" y="3255264"/>
            <a:ext cx="163677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order_item_id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order_id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product_id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quantity, unit_price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965960" y="1060704"/>
            <a:ext cx="27432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31820" y="2606040"/>
            <a:ext cx="0" cy="320040"/>
          </a:xfrm>
          <a:prstGeom prst="line">
            <a:avLst/>
          </a:prstGeom>
          <a:noFill/>
          <a:ln w="19050">
            <a:solidFill>
              <a:srgbClr val="546E7A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189220" y="2606040"/>
            <a:ext cx="0" cy="320040"/>
          </a:xfrm>
          <a:prstGeom prst="line">
            <a:avLst/>
          </a:prstGeom>
          <a:noFill/>
          <a:ln w="19050">
            <a:solidFill>
              <a:srgbClr val="546E7A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4023360" y="3611880"/>
            <a:ext cx="27432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457200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0F2044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45720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+ order_items together form the transaction grain — every analytics query joins these with customers, employees, products, and departments.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70" y="91440"/>
            <a:ext cx="2743200" cy="2743200"/>
          </a:xfrm>
          <a:prstGeom prst="ellipse">
            <a:avLst/>
          </a:prstGeom>
          <a:solidFill>
            <a:srgbClr val="1565C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760418" y="2743200"/>
            <a:ext cx="2286000" cy="2286000"/>
          </a:xfrm>
          <a:prstGeom prst="ellipse">
            <a:avLst/>
          </a:prstGeom>
          <a:solidFill>
            <a:srgbClr val="00B8D4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Queries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FROM, WHERE, Operators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DISTINCT, FROM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421892"/>
          </a:xfrm>
          <a:prstGeom prst="roundRect">
            <a:avLst>
              <a:gd name="adj" fmla="val 3859"/>
            </a:avLst>
          </a:prstGeom>
          <a:solidFill>
            <a:srgbClr val="0F20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41248"/>
            <a:ext cx="8046720" cy="1367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customer_name, city, segment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DISTINCT removes duplicate rows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 segment FROM customers;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09444"/>
            <a:ext cx="8229600" cy="2528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chooses which columns to return — use * for all columns (avoid in production)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specifies the source table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removes duplicate rows from the result — useful to see unique category values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order in SELECT does not need to match the table's column order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Try it: SELECT DISTINCT region FROM customers; — how many regions are there?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— Filtering Rows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188720"/>
          </a:xfrm>
          <a:prstGeom prst="roundRect">
            <a:avLst>
              <a:gd name="adj" fmla="val 4615"/>
            </a:avLst>
          </a:prstGeom>
          <a:solidFill>
            <a:srgbClr val="0F20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41248"/>
            <a:ext cx="804672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customer_name, city, segment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region = 'South'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segment = 'Corporate';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76272"/>
            <a:ext cx="8229600" cy="2761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filters rows BEFORE aggregation — only matching rows are returned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conditions with AND (both must be true) / OR (either can be true)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parentheses to control logic: WHERE (A OR B) AND C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operators: = , &lt;&gt; (not equal), &gt; , &lt; , &gt;= , &lt;=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Reference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38404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AND 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conditions must be true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OR 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Either condition can be true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Negates a condition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 BETWEEN 30000 AND 60000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Inclusive range check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department_id IN (1,2,7)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any value in the 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customer_name LIKE 'A%'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match: % = any chars, _ = one char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ILIKE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ILIKE 'mumbai'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Case-insensitive LIKE (PostgreSQL only)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NULL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manager_id IS NULL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for NULL — never use = NULL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NOT NULL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manager_id IS NOT NULL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for a non-NULL 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465" y="91440"/>
            <a:ext cx="2743200" cy="2743200"/>
          </a:xfrm>
          <a:prstGeom prst="ellipse">
            <a:avLst/>
          </a:prstGeom>
          <a:solidFill>
            <a:srgbClr val="1565C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789761" y="2743200"/>
            <a:ext cx="2286000" cy="2286000"/>
          </a:xfrm>
          <a:prstGeom prst="ellipse">
            <a:avLst/>
          </a:prstGeom>
          <a:solidFill>
            <a:srgbClr val="00B8D4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Sorting &amp; Limiting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BY, LIMIT, OFFSET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— Sorting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2121408"/>
          </a:xfrm>
          <a:prstGeom prst="roundRect">
            <a:avLst>
              <a:gd name="adj" fmla="val 2586"/>
            </a:avLst>
          </a:prstGeom>
          <a:solidFill>
            <a:srgbClr val="0F20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41248"/>
            <a:ext cx="8046720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product_name, category, unit_price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products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unit_price DESC;   -- highest price first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Multi-column sort: category A-Z, then price high-low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product_name, category, unit_price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products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category ASC, unit_price DESC;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(ascending) is the default — you can omit it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 sorts highest-to-lowest (or Z-to-A for text)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columns: the first column is the primary sort, later columns break ties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&amp; OFFSET — Pagination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2619756"/>
          </a:xfrm>
          <a:prstGeom prst="roundRect">
            <a:avLst>
              <a:gd name="adj" fmla="val 2094"/>
            </a:avLst>
          </a:prstGeom>
          <a:solidFill>
            <a:srgbClr val="0F20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41248"/>
            <a:ext cx="8046720" cy="25648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Top 10 most expensive products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product_name, unit_price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products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unit_price DESC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10;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Page 2 of results (rows 11-20)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product_name, unit_price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products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unit_price DESC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10 OFFSET 10;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607308"/>
            <a:ext cx="8229600" cy="1330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restricts the number of rows returned — essential for large tables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skips a number of rows — combine with LIMIT for pagination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ORDER BY with LIMIT — without it, 'top N' is undefined and may vary between runs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Try it: Find the 5 most recent orders using ORDER BY order_date DESC LIMIT 5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874" y="91440"/>
            <a:ext cx="2743200" cy="2743200"/>
          </a:xfrm>
          <a:prstGeom prst="ellipse">
            <a:avLst/>
          </a:prstGeom>
          <a:solidFill>
            <a:srgbClr val="1565C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791126" y="2743200"/>
            <a:ext cx="2286000" cy="2286000"/>
          </a:xfrm>
          <a:prstGeom prst="ellipse">
            <a:avLst/>
          </a:prstGeom>
          <a:solidFill>
            <a:srgbClr val="00B8D4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SUM, AVG, GROUP BY, HAVING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888236"/>
          </a:xfrm>
          <a:prstGeom prst="roundRect">
            <a:avLst>
              <a:gd name="adj" fmla="val 2906"/>
            </a:avLst>
          </a:prstGeom>
          <a:solidFill>
            <a:srgbClr val="0F20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41248"/>
            <a:ext cx="8046720" cy="1833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COUNT(*)           AS total_orders,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SUM(quantity)      AS total_units,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AVG(unit_price)    AS avg_price,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MIN(unit_price)    AS cheapest,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MAX(unit_price)    AS most_expensive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order_items;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75788"/>
            <a:ext cx="8229600" cy="2061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COUNT(*) counts all rows; COUNT(column) counts non-NULL values in that column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SUM, AVG, MIN, MAX operate on numeric columns and ignore NULLs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alias aggregate columns with AS for readable output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GROUP BY, these return ONE row summarizing the entire table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— Aggregating Per Group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888236"/>
          </a:xfrm>
          <a:prstGeom prst="roundRect">
            <a:avLst>
              <a:gd name="adj" fmla="val 2906"/>
            </a:avLst>
          </a:prstGeom>
          <a:solidFill>
            <a:srgbClr val="0F20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41248"/>
            <a:ext cx="8046720" cy="1833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o.region,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SUM(oi.quantity * oi.unit_price * (1-oi.discount)) AS revenue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 o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order_items oi ON o.order_id = oi.order_id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o.status = 'Completed'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o.region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revenue DESC;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75788"/>
            <a:ext cx="8229600" cy="2061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collapses rows that share the same value into one summary row per group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 in SELECT must be either in GROUP BY or wrapped in an aggregate function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rows BEFORE grouping with WHERE; filter GROUPS after with HAVING (next slide)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Try it: Group by o.region AND date_part('year', o.order_date) for yearly revenue by region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— Filtering Groups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421892"/>
          </a:xfrm>
          <a:prstGeom prst="roundRect">
            <a:avLst>
              <a:gd name="adj" fmla="val 3859"/>
            </a:avLst>
          </a:prstGeom>
          <a:solidFill>
            <a:srgbClr val="0F20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41248"/>
            <a:ext cx="8046720" cy="1367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department_id, AVG(salary) AS avg_salary, COUNT(*) AS headcount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employees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department_id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AVG(salary) &gt; 50000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avg_salary DESC;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09444"/>
            <a:ext cx="8229600" cy="2528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filters AFTER grouping — it can reference aggregate functions (SUM, AVG, COUNT)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filters BEFORE grouping — it CANNOT reference aggregate functions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of execution: FROM -&gt; WHERE -&gt; GROUP BY -&gt; HAVING -&gt; SELECT -&gt; ORDER BY -&gt; LIMIT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mistake: writing WHERE AVG(salary) &gt; 50000 — this is a syntax error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5113" y="155585"/>
            <a:ext cx="2743200" cy="2743200"/>
          </a:xfrm>
          <a:prstGeom prst="ellipse">
            <a:avLst/>
          </a:prstGeom>
          <a:solidFill>
            <a:srgbClr val="1565C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796585" y="2743200"/>
            <a:ext cx="2286000" cy="2286000"/>
          </a:xfrm>
          <a:prstGeom prst="ellipse">
            <a:avLst/>
          </a:prstGeom>
          <a:solidFill>
            <a:srgbClr val="00B8D4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INNER, LEFT, RIGHT, FULL OUTER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— Matching Rows from Both Tables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421892"/>
          </a:xfrm>
          <a:prstGeom prst="roundRect">
            <a:avLst>
              <a:gd name="adj" fmla="val 3859"/>
            </a:avLst>
          </a:prstGeom>
          <a:solidFill>
            <a:srgbClr val="0F20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41248"/>
            <a:ext cx="8046720" cy="1367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o.order_id, c.customer_name, o.order_date, o.status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 o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customers c ON o.customer_id = c.customer_id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o.order_date DESC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10;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09444"/>
            <a:ext cx="8229600" cy="2528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returns only rows that have a match in BOTH tables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specifies the join condition — usually a primary key = foreign key relationship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aliases (o, c) keep queries short and avoid ambiguous column names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customer has no orders, that customer is EXCLUDED from INNER JOIN results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— Keep Everything from the Left Table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888236"/>
          </a:xfrm>
          <a:prstGeom prst="roundRect">
            <a:avLst>
              <a:gd name="adj" fmla="val 2906"/>
            </a:avLst>
          </a:prstGeom>
          <a:solidFill>
            <a:srgbClr val="0F20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41248"/>
            <a:ext cx="8046720" cy="1833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Every customer, even those with zero orders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c.customer_name, COUNT(o.order_id) AS order_count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 c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orders o ON c.customer_id = o.customer_id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c.customer_name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order_count ASC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10;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75788"/>
            <a:ext cx="8229600" cy="2061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keeps ALL rows from the left table, even with no match on the right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right-side columns become NULL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use case: 'find customers who never ordered' -&gt; WHERE o.order_id IS NULL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JOIN is the mirror image — rarely used since you can just swap table order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OUTER JOIN &amp; Finding Mismatches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2615184"/>
          </a:xfrm>
          <a:prstGeom prst="roundRect">
            <a:avLst>
              <a:gd name="adj" fmla="val 2098"/>
            </a:avLst>
          </a:prstGeom>
          <a:solidFill>
            <a:srgbClr val="0F20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41248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0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All employees AND all departments, matched where possible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e.full_name, d.department_name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employees e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OUTER JOIN departments d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e.department_id = d.department_id;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Find customers with NO completed orders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c.customer_name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 c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orders o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c.customer_id = o.customer_id AND o.status = 'Completed'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o.order_id IS NULL;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602736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OUTER JOIN keeps unmatched rows from BOTH sides — NULLs appear on either side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MySQL does not support FULL OUTER JOIN directly (use UNION of LEFT + RIGHT)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LEFT JOIN + IS NULL pattern is the standard way to find 'anti-join' results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Try it: Find products that have never appeared in any order_items row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8761" y="91440"/>
            <a:ext cx="2743200" cy="2743200"/>
          </a:xfrm>
          <a:prstGeom prst="ellipse">
            <a:avLst/>
          </a:prstGeom>
          <a:solidFill>
            <a:srgbClr val="1565C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703780" y="2688609"/>
            <a:ext cx="2286000" cy="2286000"/>
          </a:xfrm>
          <a:prstGeom prst="ellipse">
            <a:avLst/>
          </a:prstGeom>
          <a:solidFill>
            <a:srgbClr val="00B8D4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Subqueries &amp; CTEs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Queries, WITH Clause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Subquery in WHERE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2404872"/>
          </a:xfrm>
          <a:prstGeom prst="roundRect">
            <a:avLst>
              <a:gd name="adj" fmla="val 2281"/>
            </a:avLst>
          </a:prstGeom>
          <a:solidFill>
            <a:srgbClr val="0F20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41248"/>
            <a:ext cx="8046720" cy="2350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Employees earning above the company average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full_name, designation, salary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employees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salary &gt; (SELECT AVG(salary) FROM employees)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salary DESC;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Customers in cities where we have an employee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customer_name, city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city IN (SELECT DISTINCT location FROM departments);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392424"/>
            <a:ext cx="8229600" cy="1545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subquery in WHERE returns a value (or list) used to filter the outer query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subquery (returns ONE value): use with =, &gt;, &lt;, etc.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Subquery returning multiple rows: use with IN, NOT IN, ANY, ALL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subquery runs first (logically), then the outer query uses its result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Subquery in SELECT — A Value Per Row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421892"/>
          </a:xfrm>
          <a:prstGeom prst="roundRect">
            <a:avLst>
              <a:gd name="adj" fmla="val 3859"/>
            </a:avLst>
          </a:prstGeom>
          <a:solidFill>
            <a:srgbClr val="0F20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41248"/>
            <a:ext cx="8046720" cy="1367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Each customer's most recent order date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c.customer_name,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(SELECT MAX(order_date) FROM orders o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WHERE o.customer_id = c.customer_id) AS last_order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 c;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09444"/>
            <a:ext cx="8229600" cy="2528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subquery placed in SELECT runs once per row of the outer query — it returns a single value for each row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adding a calculated 'lookup' column without a JOIN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slower than a JOIN on large tables because it re-runs for every row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Try it: add a column showing each employee's department_name using a subquery instead of a JOIN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 — The WITH Clause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2404872"/>
          </a:xfrm>
          <a:prstGeom prst="roundRect">
            <a:avLst>
              <a:gd name="adj" fmla="val 2281"/>
            </a:avLst>
          </a:prstGeom>
          <a:solidFill>
            <a:srgbClr val="0F20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41248"/>
            <a:ext cx="8046720" cy="2350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region_sales AS (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region,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SUM(quantity*unit_price*(1-discount)) AS revenue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orders o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order_items oi ON o.order_id = oi.order_id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region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region_sales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revenue &gt; 100000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revenue DESC;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392424"/>
            <a:ext cx="8229600" cy="1545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 (Common Table Expressions) use WITH name AS (...) to define a temporary named result set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 make complex queries readable by breaking them into logical steps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CTE can reference earlier CTEs in the same WITH clause (chain them)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view, a CTE only exists for the duration of the single query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5113" y="91440"/>
            <a:ext cx="2743200" cy="2743200"/>
          </a:xfrm>
          <a:prstGeom prst="ellipse">
            <a:avLst/>
          </a:prstGeom>
          <a:solidFill>
            <a:srgbClr val="1565C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722887" y="2743200"/>
            <a:ext cx="2286000" cy="2286000"/>
          </a:xfrm>
          <a:prstGeom prst="ellipse">
            <a:avLst/>
          </a:prstGeom>
          <a:solidFill>
            <a:srgbClr val="00B8D4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 Functions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ROW_NUMBER, RANK, PARTITION BY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ROW_NUMBER(), RANK(), DENSE_RANK()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421892"/>
          </a:xfrm>
          <a:prstGeom prst="roundRect">
            <a:avLst>
              <a:gd name="adj" fmla="val 3859"/>
            </a:avLst>
          </a:prstGeom>
          <a:solidFill>
            <a:srgbClr val="0F20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41248"/>
            <a:ext cx="8046720" cy="1367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full_name, department_id, salary,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ROW_NUMBER() OVER (ORDER BY salary DESC) AS row_num,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RANK()       OVER (ORDER BY salary DESC) AS rnk,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DENSE_RANK() OVER (ORDER BY salary DESC) AS drnk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employees;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09444"/>
            <a:ext cx="8229600" cy="2528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compute a value across a set of rows WITHOUT collapsing them (unlike GROUP BY)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ROW_NUMBER(): always unique, sequential (1,2,3,4...)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RANK(): ties share the same rank, but leaves gaps (1,2,2,4)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DENSE_RANK(): ties share the same rank, NO gaps (1,2,2,3)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(...) defines the 'window' — here, the entire table ordered by salary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BY — Window Functions Per Group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3108960"/>
          </a:xfrm>
          <a:prstGeom prst="roundRect">
            <a:avLst>
              <a:gd name="adj" fmla="val 1765"/>
            </a:avLst>
          </a:prstGeom>
          <a:solidFill>
            <a:srgbClr val="0F20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41248"/>
            <a:ext cx="8046720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Rank employees by salary WITHIN their own department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full_name, department_id, salary,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ROW_NUMBER() OVER (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PARTITION BY department_id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ORDER BY salary DESC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AS dept_rank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employees;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Running total of revenue by date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order_date, daily_revenue,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SUM(daily_revenue) OVER (ORDER BY order_date) AS running_total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(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order_date, SUM(quantity*unit_price) AS daily_revenue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orders o JOIN order_items oi ON o.order_id=oi.order_id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order_date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daily;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096512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BY restarts the window calculation for each group — like GROUP BY, but rows aren't collapsed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PARTITION BY dept_rank = 1 (in an outer query) to find 'top earner per department'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totals: SUM() OVER (ORDER BY ...) with no PARTITION BY accumulates across all rows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Try it: Find each customer's first and most recent order using MIN()/MAX() OVER (PARTITION BY customer_id)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465" y="176056"/>
            <a:ext cx="2743200" cy="2743200"/>
          </a:xfrm>
          <a:prstGeom prst="ellipse">
            <a:avLst/>
          </a:prstGeom>
          <a:solidFill>
            <a:srgbClr val="1565C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736535" y="2743200"/>
            <a:ext cx="2286000" cy="2286000"/>
          </a:xfrm>
          <a:prstGeom prst="ellipse">
            <a:avLst/>
          </a:prstGeom>
          <a:solidFill>
            <a:srgbClr val="00B8D4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Logic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 — IF/ELSE Logic in SQL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2811780"/>
          </a:xfrm>
          <a:prstGeom prst="roundRect">
            <a:avLst>
              <a:gd name="adj" fmla="val 1951"/>
            </a:avLst>
          </a:prstGeom>
          <a:solidFill>
            <a:srgbClr val="0F20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41248"/>
            <a:ext cx="8046720" cy="27569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0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full_name, salary,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salary &gt;= 100000 THEN 'High'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salary &gt;= 50000  THEN 'Medium'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'Low'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AS salary_band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employees;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CASE inside an aggregate: conditional counting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region,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COUNT(*) AS total_orders,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COUNT(CASE WHEN status='Cancelled' THEN 1 END) AS cancelled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 GROUP BY region;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799332"/>
            <a:ext cx="8229600" cy="11384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 ... THEN ... ELSE ... END is SQL's equivalent of IF/ELSE IF/ELSE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are checked top-to-bottom — the FIRST matching WHEN wins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is optional — without it, non-matching rows return NULL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CASE with aggregates is a powerful pivot-like pattern for conditional counts/sums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522" y="91440"/>
            <a:ext cx="2743200" cy="2743200"/>
          </a:xfrm>
          <a:prstGeom prst="ellipse">
            <a:avLst/>
          </a:prstGeom>
          <a:solidFill>
            <a:srgbClr val="1565C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79096" y="2743200"/>
            <a:ext cx="2286000" cy="2286000"/>
          </a:xfrm>
          <a:prstGeom prst="ellipse">
            <a:avLst/>
          </a:prstGeom>
          <a:solidFill>
            <a:srgbClr val="00B8D4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Manipulation (DML)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UPDATE, DELETE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UPDATE, DELETE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2615184"/>
          </a:xfrm>
          <a:prstGeom prst="roundRect">
            <a:avLst>
              <a:gd name="adj" fmla="val 2098"/>
            </a:avLst>
          </a:prstGeom>
          <a:solidFill>
            <a:srgbClr val="0F20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41248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0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INSERT a new row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customers (customer_name, email, region, segment, signup_date)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('Test Customer','test@retailmax.in','West','Retail',CURRENT_DATE);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UPDATE existing rows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employees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salary = salary * 1.10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department_id = 2;   -- 10% raise for Engineering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DELETE rows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order_items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order_id = 999;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602736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adds new rows; specify column names explicitly for clarity and safety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modifies existing rows — the WHERE clause determines WHICH rows change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removes entire rows — also driven by WHERE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ALWAYS write and test the WHERE clause as a SELECT first, before UPDATE/DELETE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70" y="91440"/>
            <a:ext cx="2743200" cy="2743200"/>
          </a:xfrm>
          <a:prstGeom prst="ellipse">
            <a:avLst/>
          </a:prstGeom>
          <a:solidFill>
            <a:srgbClr val="1565C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83991" y="2668138"/>
            <a:ext cx="2286000" cy="2286000"/>
          </a:xfrm>
          <a:prstGeom prst="ellipse">
            <a:avLst/>
          </a:prstGeom>
          <a:solidFill>
            <a:srgbClr val="00B8D4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Operations (DDL)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ALTER, DROP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TABLE, ALTER TABLE, DROP TABLE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2615184"/>
          </a:xfrm>
          <a:prstGeom prst="roundRect">
            <a:avLst>
              <a:gd name="adj" fmla="val 2098"/>
            </a:avLst>
          </a:prstGeom>
          <a:solidFill>
            <a:srgbClr val="0F20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41248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0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returns_log (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return_id    SERIAL PRIMARY KEY,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order_id     INT REFERENCES orders(order_id),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return_date  DATE NOT NULL,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reason       VARCHAR(100)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Add a new column to an existing table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customers ADD COLUMN phone VARCHAR(15);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Remove a table entirely (structure AND data)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TABLE returns_log;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602736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defines structure: column names, data types, constraints (PRIMARY KEY, REFERENCES, NOT NULL)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TABLE modifies an existing table's structure — add/remove/modify columns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TABLE permanently deletes the table AND all its data — use with extreme caution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uniquely identifies each row; REFERENCES creates a foreign key relationship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457200"/>
            <a:ext cx="2743200" cy="2743200"/>
          </a:xfrm>
          <a:prstGeom prst="ellipse">
            <a:avLst/>
          </a:prstGeom>
          <a:solidFill>
            <a:srgbClr val="1565C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735171" y="2647666"/>
            <a:ext cx="2286000" cy="2286000"/>
          </a:xfrm>
          <a:prstGeom prst="ellipse">
            <a:avLst/>
          </a:prstGeom>
          <a:solidFill>
            <a:srgbClr val="00B8D4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&amp; Date Functions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Manipulation and Dates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Functions Reference</a:t>
            </a:r>
            <a:endParaRPr lang="en-US" sz="22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345643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CONCAT / ||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first_name || ' ' || last_name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Joins strings together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/ LOWER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UPPER(customer_name)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Converts case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SUBSTRING(email, 1, 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Extracts part of a string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LENGTH(customer_name)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characters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TRIM('  hello  ')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leading/trailing spaces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REPLACE(city,'Bangalore','Bengaluru')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all occurrences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POSITION('@' IN email)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position of a character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INITCAP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INITCAP('john smith')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Case (PostgreSQL)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Functions Reference</a:t>
            </a:r>
            <a:endParaRPr lang="en-US" sz="22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313029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CURRENT_DATE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CURRENT_DATE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Today's 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AGE(CURRENT_DATE, hire_date)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Interval between two dates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DATE_PART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DATE_PART('year', order_date)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year/month/day as number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DATE_TRUNC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DATE_TRUNC('month', order_date)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date down to month/year/etc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EXTRACT(MONTH FROM order_date)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DATE_PART, SQL standard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INTERVAL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order_date + INTERVAL '7 days'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days/months/years to a 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DATEDIFF (concept)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order_date - signup_date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subtraction returns days in PostgreSQL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9232" y="162409"/>
            <a:ext cx="2743200" cy="2743200"/>
          </a:xfrm>
          <a:prstGeom prst="ellipse">
            <a:avLst/>
          </a:prstGeom>
          <a:solidFill>
            <a:srgbClr val="1565C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88768" y="2743200"/>
            <a:ext cx="2286000" cy="2286000"/>
          </a:xfrm>
          <a:prstGeom prst="ellipse">
            <a:avLst/>
          </a:prstGeom>
          <a:solidFill>
            <a:srgbClr val="00B8D4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Operations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UNION, INTERSECT, EXCEPT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UNION, INTERSECT, EXCEPT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3008376"/>
          </a:xfrm>
          <a:prstGeom prst="roundRect">
            <a:avLst>
              <a:gd name="adj" fmla="val 1824"/>
            </a:avLst>
          </a:prstGeom>
          <a:solidFill>
            <a:srgbClr val="0F20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41248"/>
            <a:ext cx="8046720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0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UNION: combine + remove duplicates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customer_name FROM customers WHERE region='North'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customer_name FROM customers WHERE segment='Corporate';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UNION ALL: combine, KEEP duplicates (faster)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city FROM customers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 ALL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location FROM departments;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EXCEPT: rows in first query NOT in second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customer_id FROM customers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 customer_id FROM orders;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995928"/>
            <a:ext cx="822960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set operations require the SAME NUMBER of columns with COMPATIBLE data types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removes duplicate rows; UNION ALL keeps them (and is faster — use when you know there's no overlap)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 returns rows present in BOTH queries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 returns rows in the first query that do NOT appear in the second — great for 'find missing records'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289" y="91440"/>
            <a:ext cx="2743200" cy="2743200"/>
          </a:xfrm>
          <a:prstGeom prst="ellipse">
            <a:avLst/>
          </a:prstGeom>
          <a:solidFill>
            <a:srgbClr val="1565C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729711" y="2688609"/>
            <a:ext cx="2286000" cy="2286000"/>
          </a:xfrm>
          <a:prstGeom prst="ellipse">
            <a:avLst/>
          </a:prstGeom>
          <a:solidFill>
            <a:srgbClr val="00B8D4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 &amp; Indexes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Fundamentals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Keys, Foreign Keys &amp; Indexes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PRIMARY KEY: uniquely identifies each row; cannot be NULL or duplicated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Example: employee_id is the primary key of employees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FOREIGN KEY: a column that references a primary key in another table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Example: orders.customer_id REFERENCES customers.customer_id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Enforces referential integrity — you cannot insert an order for a customer that doesn't exist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INDEX: a data structure that speeds up lookups on a column (like a book's index)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CREATE INDEX idx_orders_date ON orders(order_date);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Indexes speed up WHERE, JOIN, and ORDER BY on that column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Trade-off: indexes speed up reads but slow down writes (INSERT/UPDATE/DELETE)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and consume additional storage — only index columns you filter/join/sort on frequently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Tips for Analysts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Filter early: put conditions in WHERE rather than filtering after a JOIN where possible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SELECT only the columns you need — avoid SELECT * in production queries and views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 LIMIT while exploring large tables to avoid pulling millions of rows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Index columns used in WHERE, JOIN ON, and ORDER BY clauses frequently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 EXPLAIN (or EXPLAIN ANALYZE) to see how PostgreSQL plans to run your query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Prefer EXISTS over IN for subqueries checking existence in large tables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Aggregate as late as possible — join first, then GROUP BY, when it doesn't change the result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EXPLAIN ANALYZE SELECT * FROM orders WHERE order_date &gt; '2024-01-01';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Handling &amp; Aliases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means 'unknown' or 'absent' — it is NOT zero, NOT an empty string, and NOT equal to itself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write WHERE column = NULL — always use IS NULL / IS NOT NULL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COALESCE(column, 'default') returns the first non-NULL value — great for clean reports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SELECT COALESCE(phone, 'N/A') AS phone FROM customers;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(SUM, AVG, COUNT(column)) silently ignore NULLs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ALIASES (AS): rename columns or tables for readability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SELECT e.full_name AS employee, d.department_name AS department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FROM employees e JOIN departments d ON e.department_id = d.department_id;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Aliases are essential once queries involve multiple tables with similar column names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2408" y="91440"/>
            <a:ext cx="2743200" cy="2743200"/>
          </a:xfrm>
          <a:prstGeom prst="ellipse">
            <a:avLst/>
          </a:prstGeom>
          <a:solidFill>
            <a:srgbClr val="1565C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95592" y="2661314"/>
            <a:ext cx="2286000" cy="2286000"/>
          </a:xfrm>
          <a:prstGeom prst="ellipse">
            <a:avLst/>
          </a:prstGeom>
          <a:solidFill>
            <a:srgbClr val="00B8D4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Interview Questions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Q&amp;A for Data Analyst Roles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Interview Questions — Part 1 (1-5)</a:t>
            </a:r>
            <a:endParaRPr lang="en-US" sz="22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329184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Answer Points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 between WHERE and HAVING?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filters rows before grouping; HAVING filters groups after GROUP BY and can use aggregates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INNER JOIN vs LEFT JOIN?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INNER returns only matched rows; LEFT keeps all left-table rows, NULLs for unmatched right side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GROUP BY do?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Collapses rows sharing the same value(s) into one row per group, enabling aggregation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 vs foreign key?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uniquely identifies a row in its table; FK references a PK in another table to enforce relationships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 you find duplicate rows?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BY the relevant columns with HAVING COUNT(*) &gt;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Interview Questions — Part 1 (6-10)</a:t>
            </a:r>
            <a:endParaRPr lang="en-US" sz="22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329184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Answer Points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order of a SQL query?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-&gt; WHERE -&gt; GROUP BY -&gt; HAVING -&gt; SELECT -&gt; ORDER BY -&gt; LIMIT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a CTE and why use one?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name AS (...) defines a named temporary result set; improves readability of complex queries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RANK() vs DENSE_RANK()?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leaves gaps after ties (1,2,2,4); DENSE_RANK does not (1,2,2,3)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PARTITION BY do?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Restarts the window calculation for each group, without collapsing rows like GROUP BY does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 aggregates handle NULL?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SUM/AVG/COUNT(column) ignore NULLs automatically; use COALESCE to substitute default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Interview Questions — Part 2 (11-15)</a:t>
            </a:r>
            <a:endParaRPr lang="en-US" sz="22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329184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Answer Points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vs UNION ALL?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removes duplicates (slower); UNION ALL keeps all rows including duplicates (faster)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customers who never ordered?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JOIN customers to orders WHERE orders.order_id IS NULL, or use EXCEPT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an index, and when add one?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Speeds up lookups on a column; add to columns frequently used in WHERE/JOIN/ORDER 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a self-join with an 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Joining a table to itself - e.g. employees joined to employees ON e.manager_id = m.employee_id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vs TRUNCATE?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removes rows (can use WHERE, can be rolled back); TRUNCATE removes all rows instantly, resets identity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Interview Questions — Part 2 (16-20)</a:t>
            </a:r>
            <a:endParaRPr lang="en-US" sz="22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329184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Answer Points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calculate a running total?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SUM(column) OVER (ORDER BY date_column) - a window function with no PARTITION 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COALESCE do?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the first non-NULL value from a list of expressions - useful for default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is SELECT * discouraged?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unnecessary data, breaks if columns change, hurts performance and readability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referential integrity?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values always correspond to an existing PK - enforced by foreign key constraints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find the 2nd highest salary?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BY salary DESC LIMIT 1 OFFSET 1; or use DENSE_RANK() and filter rank =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9704" y="210175"/>
            <a:ext cx="2743200" cy="2743200"/>
          </a:xfrm>
          <a:prstGeom prst="ellipse">
            <a:avLst/>
          </a:prstGeom>
          <a:solidFill>
            <a:srgbClr val="1565C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735170" y="2681785"/>
            <a:ext cx="2286000" cy="2286000"/>
          </a:xfrm>
          <a:prstGeom prst="ellipse">
            <a:avLst/>
          </a:prstGeom>
          <a:solidFill>
            <a:srgbClr val="00B8D4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Project Briefing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Everything You've Learned</a:t>
            </a:r>
            <a:endParaRPr lang="en-US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Capstone — SQL Business Analytics Report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retailmax database to answer 10 real business questions with SQL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Revenue by region and category (GROUP BY + JOIN)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Top 5 customers by lifetime revenue (JOIN + aggregation + ORDER BY + LIMIT)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Monthly revenue trend with running total (DATE_TRUNC + window function)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4: Rank salespeople within each region by revenue (PARTITION BY)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5: Customers who never ordered, and products never sold (LEFT JOIN / EXCEPT)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6: Department headcount and average salary above company average (HAVING)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7: Order status breakdown using CASE WHEN conditional counts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8: Build a CTE-based summary view combining 3+ tables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A single .sql file with all 10 queries, commented, plus a 1-page write-up of insights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Quiz and Study Guide for full formula and syntax references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6275" y="182880"/>
            <a:ext cx="3657600" cy="3657600"/>
          </a:xfrm>
          <a:prstGeom prst="ellipse">
            <a:avLst/>
          </a:prstGeom>
          <a:solidFill>
            <a:srgbClr val="1565C0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 Complete!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now: Query · Join · Aggregate · Window Functions · CTEs · Build Reports in SQL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Module 4 - Power BI / Python for Analytics  |  Keep practising on retailmax!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5054</Words>
  <Application>Microsoft Office PowerPoint</Application>
  <PresentationFormat>On-screen Show (16:9)</PresentationFormat>
  <Paragraphs>679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 – SQL for Data Analysis</dc:title>
  <dc:subject>PptxGenJS Presentation</dc:subject>
  <dc:creator>Senior Data Analytics Trainer</dc:creator>
  <cp:lastModifiedBy>Sivapriyan Mani</cp:lastModifiedBy>
  <cp:revision>4</cp:revision>
  <dcterms:created xsi:type="dcterms:W3CDTF">2026-06-14T05:52:48Z</dcterms:created>
  <dcterms:modified xsi:type="dcterms:W3CDTF">2026-06-19T10:35:02Z</dcterms:modified>
</cp:coreProperties>
</file>